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8" r:id="rId4"/>
    <p:sldId id="263" r:id="rId5"/>
    <p:sldId id="264" r:id="rId6"/>
    <p:sldId id="265" r:id="rId7"/>
    <p:sldId id="267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39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6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40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34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72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7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59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3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4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80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AB068-2450-4597-9EF5-5AF7E6E959B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1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devesh.omar@gmail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0714" y="-843170"/>
            <a:ext cx="9144000" cy="2387600"/>
          </a:xfrm>
        </p:spPr>
        <p:txBody>
          <a:bodyPr/>
          <a:lstStyle/>
          <a:p>
            <a:r>
              <a:rPr lang="en-US" dirty="0" smtClean="0"/>
              <a:t>Generative AI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714" y="2132162"/>
            <a:ext cx="9144000" cy="1655762"/>
          </a:xfrm>
        </p:spPr>
        <p:txBody>
          <a:bodyPr/>
          <a:lstStyle/>
          <a:p>
            <a:r>
              <a:rPr lang="en-US" dirty="0" smtClean="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277963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Agent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LLM need complex task and it need multiple steps to finish then it keep calling LLM until it get final result.</a:t>
            </a:r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1026" name="Picture 2" descr="The 4 Levels of AI Agents: When to Use Workflows vs Autonomous System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044" y="2756478"/>
            <a:ext cx="5664110" cy="377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914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927"/>
          </a:xfrm>
        </p:spPr>
        <p:txBody>
          <a:bodyPr/>
          <a:lstStyle/>
          <a:p>
            <a:r>
              <a:rPr lang="en-US" dirty="0" smtClean="0"/>
              <a:t>Example Scenarios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650" y="1073595"/>
            <a:ext cx="10963542" cy="5540849"/>
          </a:xfrm>
        </p:spPr>
        <p:txBody>
          <a:bodyPr>
            <a:normAutofit/>
          </a:bodyPr>
          <a:lstStyle/>
          <a:p>
            <a:r>
              <a:rPr lang="en-US" sz="1400" dirty="0" smtClean="0"/>
              <a:t>Please apply leave for me from </a:t>
            </a:r>
            <a:r>
              <a:rPr lang="en-US" sz="1400" dirty="0" err="1" smtClean="0"/>
              <a:t>april</a:t>
            </a:r>
            <a:r>
              <a:rPr lang="en-US" sz="1400" dirty="0" smtClean="0"/>
              <a:t> 4 to </a:t>
            </a:r>
            <a:r>
              <a:rPr lang="en-US" sz="1400" dirty="0" err="1" smtClean="0"/>
              <a:t>april</a:t>
            </a:r>
            <a:r>
              <a:rPr lang="en-US" sz="1400" dirty="0" smtClean="0"/>
              <a:t> 11.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/>
              <a:t>Here below will be tasks</a:t>
            </a:r>
          </a:p>
          <a:p>
            <a:pPr marL="514350" indent="-514350">
              <a:buAutoNum type="alphaLcPeriod"/>
            </a:pPr>
            <a:r>
              <a:rPr lang="en-US" sz="1400" dirty="0" smtClean="0"/>
              <a:t>Task 1 -&gt; </a:t>
            </a:r>
            <a:r>
              <a:rPr lang="en-US" sz="1400" dirty="0" err="1" smtClean="0"/>
              <a:t>Getleavebalance</a:t>
            </a:r>
            <a:endParaRPr lang="en-US" sz="1400" dirty="0" smtClean="0"/>
          </a:p>
          <a:p>
            <a:pPr marL="514350" indent="-514350">
              <a:buAutoNum type="alphaLcPeriod"/>
            </a:pPr>
            <a:r>
              <a:rPr lang="en-US" sz="1400" dirty="0" smtClean="0"/>
              <a:t>Task 2 -&gt; Check Rule if balance &gt; number of days required</a:t>
            </a:r>
          </a:p>
          <a:p>
            <a:pPr marL="514350" indent="-514350">
              <a:buAutoNum type="alphaLcPeriod"/>
            </a:pPr>
            <a:r>
              <a:rPr lang="en-US" sz="1400" dirty="0" smtClean="0"/>
              <a:t>Task 3-&gt; Apply Leave</a:t>
            </a:r>
          </a:p>
          <a:p>
            <a:pPr marL="514350" indent="-514350">
              <a:buAutoNum type="alphaLcPeriod"/>
            </a:pPr>
            <a:r>
              <a:rPr lang="en-US" sz="1400" dirty="0" smtClean="0"/>
              <a:t>Task 4 -&gt; Send Email</a:t>
            </a:r>
          </a:p>
          <a:p>
            <a:pPr marL="514350" indent="-514350">
              <a:buAutoNum type="alphaLcPeriod"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/>
              <a:t>Task 4 dependent of Task 3,Task 2 and Task 1</a:t>
            </a:r>
          </a:p>
          <a:p>
            <a:pPr marL="0" indent="0">
              <a:buNone/>
            </a:pPr>
            <a:r>
              <a:rPr lang="en-US" sz="1400" dirty="0" smtClean="0"/>
              <a:t>Task 3 Dependent on task 1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/>
              <a:t>1. Here Agent will First Go to DB and Take </a:t>
            </a:r>
            <a:r>
              <a:rPr lang="en-US" sz="1400" dirty="0" err="1" smtClean="0"/>
              <a:t>LeaveBalance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2. Code will check Sufficient leave</a:t>
            </a:r>
          </a:p>
          <a:p>
            <a:pPr marL="0" indent="0">
              <a:buNone/>
            </a:pPr>
            <a:r>
              <a:rPr lang="en-US" sz="1400" dirty="0" smtClean="0"/>
              <a:t>3. Result of Task 1 Send to LLM and Then Task 3 will Execute</a:t>
            </a:r>
          </a:p>
          <a:p>
            <a:pPr marL="0" indent="0">
              <a:buNone/>
            </a:pPr>
            <a:r>
              <a:rPr lang="en-US" sz="1400" dirty="0" smtClean="0"/>
              <a:t>4. Result of Task 1 and Task 3 send to LLM and then Task 4 will execute.</a:t>
            </a:r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20796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Agent  -&gt; Digital Human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5176" y="1690688"/>
            <a:ext cx="6527007" cy="4351338"/>
          </a:xfrm>
          <a:prstGeom prst="rect">
            <a:avLst/>
          </a:prstGeom>
        </p:spPr>
      </p:pic>
      <p:sp>
        <p:nvSpPr>
          <p:cNvPr id="5" name="AutoShape 4" descr="AI Agent: Brain and Tools Infographi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975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Agent Tool Loop</a:t>
            </a:r>
            <a:endParaRPr lang="en-IN" dirty="0"/>
          </a:p>
        </p:txBody>
      </p:sp>
      <p:pic>
        <p:nvPicPr>
          <p:cNvPr id="2050" name="Picture 2" descr="Understanding AI Agents by Looking Inside the Loop | by Edgar Bermudez |  Data Science Collective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615" y="1436688"/>
            <a:ext cx="6296026" cy="472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9068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Agent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Example-&gt;  </a:t>
            </a:r>
          </a:p>
          <a:p>
            <a:r>
              <a:rPr lang="en-US" sz="2000" dirty="0"/>
              <a:t>Leave balance for employee </a:t>
            </a:r>
            <a:r>
              <a:rPr lang="en-US" sz="2000" dirty="0" smtClean="0"/>
              <a:t>2344  and email to </a:t>
            </a:r>
            <a:r>
              <a:rPr lang="en-US" sz="2000" dirty="0" smtClean="0">
                <a:hlinkClick r:id="rId2"/>
              </a:rPr>
              <a:t>devesh.omar@gmail.com</a:t>
            </a:r>
            <a:endParaRPr lang="en-US" sz="2000" dirty="0" smtClean="0"/>
          </a:p>
          <a:p>
            <a:r>
              <a:rPr lang="en-US" sz="2000" dirty="0" smtClean="0"/>
              <a:t>Task 1 -&gt;  Get Leave Balance</a:t>
            </a:r>
          </a:p>
          <a:p>
            <a:r>
              <a:rPr lang="en-US" sz="2000" dirty="0" smtClean="0"/>
              <a:t>Task 2 -&gt;  Send Email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dirty="0" smtClean="0"/>
              <a:t>Here in this case LLM will see that email need to send or need data from first or before steps.</a:t>
            </a:r>
          </a:p>
          <a:p>
            <a:endParaRPr lang="en-US" dirty="0"/>
          </a:p>
          <a:p>
            <a:r>
              <a:rPr lang="en-US" dirty="0" smtClean="0"/>
              <a:t>First LLM Call -&gt; </a:t>
            </a:r>
            <a:r>
              <a:rPr lang="en-IN" dirty="0" err="1"/>
              <a:t>get_leave_balance</a:t>
            </a:r>
            <a:r>
              <a:rPr lang="en-IN" dirty="0"/>
              <a:t>(2344</a:t>
            </a:r>
            <a:r>
              <a:rPr lang="en-IN" dirty="0" smtClean="0"/>
              <a:t>)</a:t>
            </a:r>
          </a:p>
          <a:p>
            <a:r>
              <a:rPr lang="en-US" dirty="0" smtClean="0"/>
              <a:t>Second </a:t>
            </a:r>
            <a:r>
              <a:rPr lang="en-US" dirty="0"/>
              <a:t>LLM </a:t>
            </a:r>
            <a:r>
              <a:rPr lang="en-US" dirty="0" smtClean="0"/>
              <a:t> call-&gt;  </a:t>
            </a:r>
            <a:r>
              <a:rPr lang="en-US" dirty="0" err="1" smtClean="0"/>
              <a:t>send_email</a:t>
            </a:r>
            <a:r>
              <a:rPr lang="en-US" dirty="0" smtClean="0"/>
              <a:t>  (devesh.omar@gmail.com)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45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188"/>
            <a:ext cx="10515600" cy="1325563"/>
          </a:xfrm>
        </p:spPr>
        <p:txBody>
          <a:bodyPr/>
          <a:lstStyle/>
          <a:p>
            <a:r>
              <a:rPr lang="en-US" dirty="0" smtClean="0"/>
              <a:t>Agent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06335" y="1393751"/>
            <a:ext cx="5007178" cy="2679994"/>
          </a:xfrm>
        </p:spPr>
        <p:txBody>
          <a:bodyPr>
            <a:normAutofit/>
          </a:bodyPr>
          <a:lstStyle/>
          <a:p>
            <a:r>
              <a:rPr lang="en-US" sz="1400" dirty="0" smtClean="0"/>
              <a:t>While true</a:t>
            </a:r>
          </a:p>
          <a:p>
            <a:pPr lvl="1"/>
            <a:r>
              <a:rPr lang="en-US" sz="1400" dirty="0" smtClean="0"/>
              <a:t>Response = </a:t>
            </a:r>
            <a:r>
              <a:rPr lang="en-US" sz="1400" dirty="0" err="1" smtClean="0"/>
              <a:t>CallLLM</a:t>
            </a:r>
            <a:r>
              <a:rPr lang="en-US" sz="1400" dirty="0" smtClean="0"/>
              <a:t>()</a:t>
            </a:r>
          </a:p>
          <a:p>
            <a:pPr lvl="1"/>
            <a:r>
              <a:rPr lang="en-US" sz="1400" dirty="0" smtClean="0"/>
              <a:t>If </a:t>
            </a:r>
            <a:r>
              <a:rPr lang="en-US" sz="1400" dirty="0" err="1" smtClean="0"/>
              <a:t>response.tool</a:t>
            </a:r>
            <a:r>
              <a:rPr lang="en-US" sz="1400" dirty="0" smtClean="0"/>
              <a:t> &gt;0</a:t>
            </a:r>
          </a:p>
          <a:p>
            <a:pPr lvl="2"/>
            <a:r>
              <a:rPr lang="en-US" sz="1400" dirty="0" smtClean="0"/>
              <a:t>Execute tool</a:t>
            </a:r>
          </a:p>
          <a:p>
            <a:pPr lvl="2"/>
            <a:r>
              <a:rPr lang="en-US" sz="1400" dirty="0" smtClean="0"/>
              <a:t>Add Tool result</a:t>
            </a:r>
          </a:p>
          <a:p>
            <a:pPr lvl="2"/>
            <a:r>
              <a:rPr lang="en-US" sz="1400" dirty="0" smtClean="0"/>
              <a:t>Continue</a:t>
            </a:r>
            <a:endParaRPr lang="en-IN" sz="1400" dirty="0"/>
          </a:p>
          <a:p>
            <a:pPr lvl="2"/>
            <a:endParaRPr lang="en-US" sz="1400" dirty="0" smtClean="0"/>
          </a:p>
          <a:p>
            <a:pPr lvl="2"/>
            <a:r>
              <a:rPr lang="en-US" sz="1400" dirty="0" smtClean="0"/>
              <a:t>If </a:t>
            </a:r>
            <a:r>
              <a:rPr lang="en-US" sz="1400" dirty="0" err="1" smtClean="0"/>
              <a:t>response.tool</a:t>
            </a:r>
            <a:r>
              <a:rPr lang="en-US" sz="1400" dirty="0" smtClean="0"/>
              <a:t>==0</a:t>
            </a:r>
          </a:p>
          <a:p>
            <a:pPr lvl="3"/>
            <a:r>
              <a:rPr lang="en-US" sz="1400" dirty="0" smtClean="0"/>
              <a:t>No further processing need</a:t>
            </a:r>
          </a:p>
          <a:p>
            <a:pPr lvl="3"/>
            <a:r>
              <a:rPr lang="en-US" sz="1400" dirty="0" smtClean="0"/>
              <a:t>exit</a:t>
            </a: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9743"/>
            <a:ext cx="7632527" cy="312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49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LLM Decide need to call Again.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7944"/>
            <a:ext cx="10515600" cy="5103495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sz="1700" dirty="0">
                <a:latin typeface="+mj-lt"/>
              </a:rPr>
              <a:t>            </a:t>
            </a:r>
            <a:r>
              <a:rPr lang="en-IN" sz="1700" dirty="0" err="1">
                <a:latin typeface="+mj-lt"/>
              </a:rPr>
              <a:t>ChatCompletion</a:t>
            </a:r>
            <a:r>
              <a:rPr lang="en-IN" sz="1700" dirty="0">
                <a:latin typeface="+mj-lt"/>
              </a:rPr>
              <a:t> completion =</a:t>
            </a:r>
          </a:p>
          <a:p>
            <a:pPr marL="0" indent="0">
              <a:buNone/>
            </a:pPr>
            <a:r>
              <a:rPr lang="en-IN" sz="1700" dirty="0">
                <a:latin typeface="+mj-lt"/>
              </a:rPr>
              <a:t>                _</a:t>
            </a:r>
            <a:r>
              <a:rPr lang="en-IN" sz="1700" dirty="0" err="1">
                <a:latin typeface="+mj-lt"/>
              </a:rPr>
              <a:t>chatClient.CompleteChat</a:t>
            </a:r>
            <a:r>
              <a:rPr lang="en-IN" sz="1700" dirty="0">
                <a:latin typeface="+mj-lt"/>
              </a:rPr>
              <a:t>(messages, options);</a:t>
            </a:r>
          </a:p>
          <a:p>
            <a:pPr marL="0" indent="0">
              <a:buNone/>
            </a:pPr>
            <a:endParaRPr lang="en-IN" sz="1700" dirty="0">
              <a:latin typeface="+mj-lt"/>
            </a:endParaRPr>
          </a:p>
          <a:p>
            <a:pPr marL="0" indent="0">
              <a:buNone/>
            </a:pPr>
            <a:r>
              <a:rPr lang="en-IN" sz="1700" dirty="0">
                <a:latin typeface="+mj-lt"/>
              </a:rPr>
              <a:t>            </a:t>
            </a:r>
            <a:r>
              <a:rPr lang="en-IN" sz="1700" dirty="0" err="1">
                <a:latin typeface="+mj-lt"/>
              </a:rPr>
              <a:t>messages.Add</a:t>
            </a:r>
            <a:r>
              <a:rPr lang="en-IN" sz="1700" dirty="0">
                <a:latin typeface="+mj-lt"/>
              </a:rPr>
              <a:t>(new </a:t>
            </a:r>
            <a:r>
              <a:rPr lang="en-IN" sz="1700" dirty="0" err="1">
                <a:latin typeface="+mj-lt"/>
              </a:rPr>
              <a:t>AssistantChatMessage</a:t>
            </a:r>
            <a:r>
              <a:rPr lang="en-IN" sz="1700" dirty="0">
                <a:latin typeface="+mj-lt"/>
              </a:rPr>
              <a:t>(completion));</a:t>
            </a:r>
          </a:p>
          <a:p>
            <a:pPr marL="0" indent="0">
              <a:buNone/>
            </a:pPr>
            <a:endParaRPr lang="en-IN" sz="1700" dirty="0">
              <a:latin typeface="+mj-lt"/>
            </a:endParaRPr>
          </a:p>
          <a:p>
            <a:pPr marL="0" indent="0">
              <a:buNone/>
            </a:pPr>
            <a:r>
              <a:rPr lang="en-IN" sz="1700" b="1" dirty="0">
                <a:latin typeface="+mj-lt"/>
              </a:rPr>
              <a:t>            if (</a:t>
            </a:r>
            <a:r>
              <a:rPr lang="en-IN" sz="1700" b="1" dirty="0" err="1">
                <a:latin typeface="+mj-lt"/>
              </a:rPr>
              <a:t>completion.FinishReason</a:t>
            </a:r>
            <a:r>
              <a:rPr lang="en-IN" sz="1700" b="1" dirty="0">
                <a:latin typeface="+mj-lt"/>
              </a:rPr>
              <a:t> != </a:t>
            </a:r>
            <a:r>
              <a:rPr lang="en-IN" sz="1700" b="1" dirty="0" err="1">
                <a:latin typeface="+mj-lt"/>
              </a:rPr>
              <a:t>ChatFinishReason.ToolCalls</a:t>
            </a:r>
            <a:r>
              <a:rPr lang="en-IN" sz="1700" b="1" dirty="0">
                <a:latin typeface="+mj-lt"/>
              </a:rPr>
              <a:t>)</a:t>
            </a:r>
          </a:p>
          <a:p>
            <a:pPr marL="0" indent="0">
              <a:buNone/>
            </a:pPr>
            <a:r>
              <a:rPr lang="en-IN" sz="1700" b="1" dirty="0">
                <a:latin typeface="+mj-lt"/>
              </a:rPr>
              <a:t>            {</a:t>
            </a:r>
          </a:p>
          <a:p>
            <a:pPr marL="0" indent="0">
              <a:buNone/>
            </a:pPr>
            <a:r>
              <a:rPr lang="en-IN" sz="1700" b="1" dirty="0">
                <a:latin typeface="+mj-lt"/>
              </a:rPr>
              <a:t>                return </a:t>
            </a:r>
            <a:r>
              <a:rPr lang="en-IN" sz="1700" b="1" dirty="0" err="1">
                <a:latin typeface="+mj-lt"/>
              </a:rPr>
              <a:t>completion.Content</a:t>
            </a:r>
            <a:r>
              <a:rPr lang="en-IN" sz="1700" b="1" dirty="0">
                <a:latin typeface="+mj-lt"/>
              </a:rPr>
              <a:t>[0].Text;</a:t>
            </a:r>
          </a:p>
          <a:p>
            <a:pPr marL="0" indent="0">
              <a:buNone/>
            </a:pPr>
            <a:r>
              <a:rPr lang="en-IN" sz="1700" b="1" dirty="0">
                <a:latin typeface="+mj-lt"/>
              </a:rPr>
              <a:t>            </a:t>
            </a:r>
            <a:r>
              <a:rPr lang="en-IN" sz="1700" b="1" dirty="0" smtClean="0">
                <a:latin typeface="+mj-lt"/>
              </a:rPr>
              <a:t>}</a:t>
            </a:r>
          </a:p>
          <a:p>
            <a:pPr marL="0" indent="0">
              <a:buNone/>
            </a:pPr>
            <a:endParaRPr lang="en-US" sz="1700" b="1" dirty="0">
              <a:latin typeface="+mj-lt"/>
            </a:endParaRPr>
          </a:p>
          <a:p>
            <a:pPr marL="342900" indent="-342900">
              <a:buAutoNum type="alphaLcPeriod"/>
            </a:pPr>
            <a:r>
              <a:rPr lang="en-IN" sz="1700" b="1" dirty="0" err="1" smtClean="0"/>
              <a:t>completion.FinishReason</a:t>
            </a:r>
            <a:r>
              <a:rPr lang="en-IN" sz="1700" b="1" dirty="0" smtClean="0"/>
              <a:t> </a:t>
            </a:r>
            <a:r>
              <a:rPr lang="en-IN" sz="1700" b="1" dirty="0"/>
              <a:t>!= </a:t>
            </a:r>
            <a:r>
              <a:rPr lang="en-IN" sz="1700" b="1" dirty="0" err="1" smtClean="0"/>
              <a:t>ChatFinishReason.ToolCalls</a:t>
            </a:r>
            <a:r>
              <a:rPr lang="en-IN" sz="1700" b="1" dirty="0" smtClean="0"/>
              <a:t>   (need Second LLM CALL)</a:t>
            </a:r>
          </a:p>
          <a:p>
            <a:pPr marL="342900" indent="-342900">
              <a:buAutoNum type="alphaLcPeriod"/>
            </a:pPr>
            <a:r>
              <a:rPr lang="en-IN" sz="1700" b="1" dirty="0" err="1"/>
              <a:t>completion.FinishReason</a:t>
            </a:r>
            <a:r>
              <a:rPr lang="en-IN" sz="1700" b="1" dirty="0"/>
              <a:t> </a:t>
            </a:r>
            <a:r>
              <a:rPr lang="en-IN" sz="1700" b="1" dirty="0" smtClean="0"/>
              <a:t>==STOP    -Means no second call needed</a:t>
            </a:r>
            <a:endParaRPr lang="en-IN" sz="17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6203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4649</TotalTime>
  <Words>293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Generative AI </vt:lpstr>
      <vt:lpstr>Agent Loop</vt:lpstr>
      <vt:lpstr>Example Scenarios </vt:lpstr>
      <vt:lpstr>Agent  -&gt; Digital Human</vt:lpstr>
      <vt:lpstr>Agent Tool Loop</vt:lpstr>
      <vt:lpstr>Agent Loop</vt:lpstr>
      <vt:lpstr>Agent Loop</vt:lpstr>
      <vt:lpstr>How LLM Decide need to call Again.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admin</dc:creator>
  <cp:lastModifiedBy>Microsoft account</cp:lastModifiedBy>
  <cp:revision>19</cp:revision>
  <dcterms:created xsi:type="dcterms:W3CDTF">2026-05-31T10:38:12Z</dcterms:created>
  <dcterms:modified xsi:type="dcterms:W3CDTF">2026-08-29T08:39:20Z</dcterms:modified>
</cp:coreProperties>
</file>