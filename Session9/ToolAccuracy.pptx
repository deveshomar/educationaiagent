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9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01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34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63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4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80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B068-2450-4597-9EF5-5AF7E6E959B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15030-D40E-48A6-8CAA-7CDED932A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1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gent-framework/journey/adding-tools#how-the-tool-calling-loop-work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714" y="-843170"/>
            <a:ext cx="9144000" cy="2387600"/>
          </a:xfrm>
        </p:spPr>
        <p:txBody>
          <a:bodyPr/>
          <a:lstStyle/>
          <a:p>
            <a:r>
              <a:rPr lang="en-US" dirty="0" smtClean="0"/>
              <a:t>Generative AI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14" y="2132162"/>
            <a:ext cx="9144000" cy="1655762"/>
          </a:xfrm>
        </p:spPr>
        <p:txBody>
          <a:bodyPr/>
          <a:lstStyle/>
          <a:p>
            <a:r>
              <a:rPr lang="en-US" dirty="0" smtClean="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7796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26" y="83114"/>
            <a:ext cx="10515600" cy="1325563"/>
          </a:xfrm>
        </p:spPr>
        <p:txBody>
          <a:bodyPr/>
          <a:lstStyle/>
          <a:p>
            <a:r>
              <a:rPr lang="en-US" dirty="0" smtClean="0"/>
              <a:t>Tool Accuracy- Most Imp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It is very important to ensure that our agent must able to fulfill user requirements</a:t>
            </a:r>
          </a:p>
          <a:p>
            <a:endParaRPr lang="en-US" sz="2000" dirty="0"/>
          </a:p>
          <a:p>
            <a:r>
              <a:rPr lang="en-US" sz="2000" dirty="0" smtClean="0"/>
              <a:t>Example:</a:t>
            </a:r>
          </a:p>
          <a:p>
            <a:r>
              <a:rPr lang="en-US" sz="2000" dirty="0" smtClean="0"/>
              <a:t>Can you please apply leave for me from 12 </a:t>
            </a:r>
            <a:r>
              <a:rPr lang="en-US" sz="2000" dirty="0" err="1" smtClean="0"/>
              <a:t>june</a:t>
            </a:r>
            <a:r>
              <a:rPr lang="en-US" sz="2000" dirty="0" smtClean="0"/>
              <a:t> to 23 </a:t>
            </a:r>
            <a:r>
              <a:rPr lang="en-US" sz="2000" dirty="0" err="1" smtClean="0"/>
              <a:t>june</a:t>
            </a:r>
            <a:r>
              <a:rPr lang="en-US" sz="2000" dirty="0" smtClean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Our Tool must perform :  </a:t>
            </a:r>
            <a:r>
              <a:rPr lang="en-US" sz="2000" dirty="0" err="1" smtClean="0"/>
              <a:t>GetleaveBalance</a:t>
            </a:r>
            <a:r>
              <a:rPr lang="en-US" sz="2000" dirty="0" smtClean="0"/>
              <a:t>() and then Apply rules () then Apply()</a:t>
            </a:r>
          </a:p>
          <a:p>
            <a:pPr marL="0" indent="0">
              <a:buNone/>
            </a:pPr>
            <a:r>
              <a:rPr lang="en-US" sz="2000" dirty="0" smtClean="0"/>
              <a:t>Tool Must go with human Defined workflow</a:t>
            </a:r>
          </a:p>
        </p:txBody>
      </p:sp>
    </p:spTree>
    <p:extLst>
      <p:ext uri="{BB962C8B-B14F-4D97-AF65-F5344CB8AC3E}">
        <p14:creationId xmlns:p14="http://schemas.microsoft.com/office/powerpoint/2010/main" val="16652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Accuracy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should not trust LLM based Plans for Crictical Write operations.</a:t>
            </a:r>
          </a:p>
          <a:p>
            <a:r>
              <a:rPr lang="en-US" dirty="0" smtClean="0"/>
              <a:t>Read Operations are fine we can trust LLM </a:t>
            </a:r>
          </a:p>
          <a:p>
            <a:endParaRPr lang="en-US" dirty="0"/>
          </a:p>
          <a:p>
            <a:r>
              <a:rPr lang="en-US" dirty="0" smtClean="0"/>
              <a:t>Critical Write operations like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ApplyLeave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Refund my </a:t>
            </a:r>
            <a:r>
              <a:rPr lang="en-US" dirty="0" err="1" smtClean="0"/>
              <a:t>amout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Cancel my tickets </a:t>
            </a:r>
            <a:r>
              <a:rPr lang="en-US" dirty="0" err="1" smtClean="0"/>
              <a:t>etc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dirty="0" err="1" smtClean="0"/>
              <a:t>UpdateTaxDetails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5614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21985"/>
            <a:ext cx="10515600" cy="1325563"/>
          </a:xfrm>
        </p:spPr>
        <p:txBody>
          <a:bodyPr/>
          <a:lstStyle/>
          <a:p>
            <a:r>
              <a:rPr lang="en-US" dirty="0"/>
              <a:t>Tool Accuracy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005" y="1107778"/>
            <a:ext cx="10515600" cy="5284476"/>
          </a:xfrm>
        </p:spPr>
        <p:txBody>
          <a:bodyPr>
            <a:normAutofit/>
          </a:bodyPr>
          <a:lstStyle/>
          <a:p>
            <a:r>
              <a:rPr lang="en-US" dirty="0" smtClean="0"/>
              <a:t>Solution for Write Operations  - Validation Layer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We Should Create robust Validation Layer</a:t>
            </a:r>
          </a:p>
          <a:p>
            <a:r>
              <a:rPr lang="en-US" sz="1600" dirty="0" smtClean="0"/>
              <a:t>We need to validate each Parameters like  for  query -</a:t>
            </a:r>
            <a:r>
              <a:rPr lang="en-US" sz="1600" b="1" i="1" dirty="0" smtClean="0"/>
              <a:t>Can </a:t>
            </a:r>
            <a:r>
              <a:rPr lang="en-US" sz="1600" b="1" i="1" dirty="0"/>
              <a:t>you please apply leave for me from 12 </a:t>
            </a:r>
            <a:r>
              <a:rPr lang="en-US" sz="1600" b="1" i="1" dirty="0" err="1"/>
              <a:t>june</a:t>
            </a:r>
            <a:r>
              <a:rPr lang="en-US" sz="1600" b="1" i="1" dirty="0"/>
              <a:t> to 23 </a:t>
            </a:r>
            <a:r>
              <a:rPr lang="en-US" sz="1600" b="1" i="1" dirty="0" err="1"/>
              <a:t>june</a:t>
            </a:r>
            <a:r>
              <a:rPr lang="en-US" sz="1600" b="1" i="1" dirty="0"/>
              <a:t> </a:t>
            </a:r>
            <a:r>
              <a:rPr lang="en-US" sz="1600" b="1" i="1" dirty="0" smtClean="0"/>
              <a:t>  </a:t>
            </a:r>
          </a:p>
          <a:p>
            <a:pPr marL="514350" indent="-514350">
              <a:buAutoNum type="alphaLcPeriod"/>
            </a:pPr>
            <a:r>
              <a:rPr lang="en-US" sz="1600" b="1" dirty="0" smtClean="0"/>
              <a:t>Validate Dates</a:t>
            </a:r>
          </a:p>
          <a:p>
            <a:pPr marL="914400" lvl="2" indent="0">
              <a:buNone/>
            </a:pPr>
            <a:r>
              <a:rPr lang="en-US" sz="1600" dirty="0" err="1" smtClean="0"/>
              <a:t>i</a:t>
            </a:r>
            <a:r>
              <a:rPr lang="en-US" sz="1600" dirty="0" smtClean="0"/>
              <a:t>) must have start and end dates</a:t>
            </a:r>
          </a:p>
          <a:p>
            <a:pPr marL="914400" lvl="2" indent="0">
              <a:buNone/>
            </a:pPr>
            <a:r>
              <a:rPr lang="en-US" sz="1600" dirty="0" smtClean="0"/>
              <a:t>ii) Must validate </a:t>
            </a:r>
            <a:r>
              <a:rPr lang="en-US" sz="1600" dirty="0" err="1" smtClean="0"/>
              <a:t>enddate</a:t>
            </a:r>
            <a:r>
              <a:rPr lang="en-US" sz="1600" dirty="0" smtClean="0"/>
              <a:t>&gt; </a:t>
            </a:r>
            <a:r>
              <a:rPr lang="en-US" sz="1600" dirty="0" err="1" smtClean="0"/>
              <a:t>startdate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b. Validate leave balance</a:t>
            </a:r>
          </a:p>
          <a:p>
            <a:pPr marL="0" indent="0">
              <a:buNone/>
            </a:pPr>
            <a:r>
              <a:rPr lang="en-US" sz="1600" dirty="0" smtClean="0"/>
              <a:t>c. Validate Leave policy may be </a:t>
            </a:r>
            <a:r>
              <a:rPr lang="en-US" sz="1600" dirty="0" err="1" smtClean="0"/>
              <a:t>emp</a:t>
            </a:r>
            <a:r>
              <a:rPr lang="en-US" sz="1600" dirty="0" smtClean="0"/>
              <a:t> is contractor or number of leave he is asking is not eligible.</a:t>
            </a:r>
          </a:p>
          <a:p>
            <a:pPr marL="0" indent="0">
              <a:buNone/>
            </a:pPr>
            <a:r>
              <a:rPr lang="en-US" sz="1600" dirty="0"/>
              <a:t>d</a:t>
            </a:r>
            <a:r>
              <a:rPr lang="en-US" sz="1600" dirty="0" smtClean="0"/>
              <a:t>. Take Approval from human</a:t>
            </a:r>
          </a:p>
          <a:p>
            <a:pPr marL="0" indent="0">
              <a:buNone/>
            </a:pPr>
            <a:r>
              <a:rPr lang="en-US" sz="1600" dirty="0"/>
              <a:t>e</a:t>
            </a:r>
            <a:r>
              <a:rPr lang="en-US" sz="1600" dirty="0" smtClean="0"/>
              <a:t>. Send notifications </a:t>
            </a:r>
          </a:p>
          <a:p>
            <a:pPr marL="0" indent="0">
              <a:buNone/>
            </a:pPr>
            <a:r>
              <a:rPr lang="en-US" sz="1600" dirty="0" smtClean="0"/>
              <a:t>g. Logging each steps.</a:t>
            </a:r>
            <a:endParaRPr lang="en-US" sz="1600" dirty="0"/>
          </a:p>
          <a:p>
            <a:endParaRPr lang="en-US" sz="1600" dirty="0" smtClean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1308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911" y="100207"/>
            <a:ext cx="10177328" cy="549274"/>
          </a:xfrm>
        </p:spPr>
        <p:txBody>
          <a:bodyPr>
            <a:normAutofit fontScale="90000"/>
          </a:bodyPr>
          <a:lstStyle/>
          <a:p>
            <a:r>
              <a:rPr lang="en-US" dirty="0"/>
              <a:t>Tool </a:t>
            </a:r>
            <a:r>
              <a:rPr lang="en-US" dirty="0" smtClean="0"/>
              <a:t>Calling - Best Practice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910" y="649481"/>
            <a:ext cx="11655751" cy="6118788"/>
          </a:xfrm>
        </p:spPr>
        <p:txBody>
          <a:bodyPr>
            <a:normAutofit/>
          </a:bodyPr>
          <a:lstStyle/>
          <a:p>
            <a:r>
              <a:rPr lang="en-US" dirty="0" smtClean="0"/>
              <a:t>While defining Tools do below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Keep </a:t>
            </a:r>
            <a:r>
              <a:rPr lang="en-US" dirty="0"/>
              <a:t>Very detailed description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Keep plugins single-responsibility. </a:t>
            </a:r>
            <a:endParaRPr lang="en-IN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Avoid Overload Tools like defining 50 Tools, do divide further.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 smtClean="0"/>
              <a:t>Higher the Tool –higher the context window-&gt; Higher token – Higher </a:t>
            </a:r>
            <a:r>
              <a:rPr lang="en-US" b="1" dirty="0" err="1" smtClean="0"/>
              <a:t>hallunications</a:t>
            </a:r>
            <a:r>
              <a:rPr lang="en-US" b="1" dirty="0" smtClean="0"/>
              <a:t> </a:t>
            </a:r>
          </a:p>
          <a:p>
            <a:pPr marL="457200" lvl="1" indent="0">
              <a:buNone/>
            </a:pPr>
            <a:endParaRPr lang="en-IN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Separate read and write plugins</a:t>
            </a:r>
            <a:r>
              <a:rPr lang="en-US" dirty="0" smtClean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smtClean="0"/>
              <a:t>Do not expose write tools to LLM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62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4568"/>
            <a:ext cx="10515600" cy="1325563"/>
          </a:xfrm>
        </p:spPr>
        <p:txBody>
          <a:bodyPr/>
          <a:lstStyle/>
          <a:p>
            <a:r>
              <a:rPr lang="en-US" dirty="0"/>
              <a:t>Tool </a:t>
            </a:r>
            <a:r>
              <a:rPr lang="en-US" dirty="0" smtClean="0"/>
              <a:t>Calling - </a:t>
            </a:r>
            <a:r>
              <a:rPr lang="en-US" dirty="0"/>
              <a:t>Best Practice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103" y="1637617"/>
            <a:ext cx="11040455" cy="48999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Add </a:t>
            </a:r>
            <a:r>
              <a:rPr lang="en-US" dirty="0" err="1"/>
              <a:t>Paramaters</a:t>
            </a:r>
            <a:r>
              <a:rPr lang="en-US" dirty="0"/>
              <a:t> and use business </a:t>
            </a:r>
            <a:r>
              <a:rPr lang="en-US" dirty="0" err="1"/>
              <a:t>specifc</a:t>
            </a:r>
            <a:r>
              <a:rPr lang="en-US" dirty="0"/>
              <a:t> Domain names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GetLeaveBalance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eid</a:t>
            </a:r>
            <a:r>
              <a:rPr lang="en-US" dirty="0"/>
              <a:t>)  use </a:t>
            </a:r>
            <a:r>
              <a:rPr lang="en-US" dirty="0" err="1"/>
              <a:t>GetLeaveBalance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employeeId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Always add agent responses back to </a:t>
            </a:r>
            <a:r>
              <a:rPr lang="en-US" dirty="0" err="1"/>
              <a:t>ChatHistory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Use </a:t>
            </a:r>
            <a:r>
              <a:rPr lang="en-US" dirty="0" err="1"/>
              <a:t>FunctionChoiceBehavior.None</a:t>
            </a:r>
            <a:r>
              <a:rPr lang="en-US" dirty="0"/>
              <a:t>() for debugging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Control maximum tool-call </a:t>
            </a:r>
            <a:r>
              <a:rPr lang="en-IN" dirty="0" smtClean="0"/>
              <a:t>iterations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We should limit Auto function call else it will keep in loop and impact Agent performance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Apply roles based rules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User may ask like can you please share salary slips for </a:t>
            </a:r>
            <a:r>
              <a:rPr lang="en-US" dirty="0" err="1"/>
              <a:t>emp</a:t>
            </a:r>
            <a:r>
              <a:rPr lang="en-US" dirty="0"/>
              <a:t> id 3456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Only manager or HR must have access on such </a:t>
            </a:r>
            <a:r>
              <a:rPr lang="en-US" dirty="0" smtClean="0"/>
              <a:t>cases.</a:t>
            </a:r>
          </a:p>
          <a:p>
            <a:pPr marL="457200" lvl="1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 smtClean="0">
                <a:hlinkClick r:id="rId2"/>
              </a:rPr>
              <a:t>Adding </a:t>
            </a:r>
            <a:r>
              <a:rPr lang="en-IN" dirty="0">
                <a:hlinkClick r:id="rId2"/>
              </a:rPr>
              <a:t>Tools | Microsoft Learn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91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646" y="0"/>
            <a:ext cx="10515600" cy="1325563"/>
          </a:xfrm>
        </p:spPr>
        <p:txBody>
          <a:bodyPr/>
          <a:lstStyle/>
          <a:p>
            <a:r>
              <a:rPr lang="en-US" dirty="0"/>
              <a:t>Tool Accuracy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269" y="1325563"/>
            <a:ext cx="10515600" cy="4351338"/>
          </a:xfrm>
        </p:spPr>
        <p:txBody>
          <a:bodyPr/>
          <a:lstStyle/>
          <a:p>
            <a:r>
              <a:rPr lang="en-US" dirty="0" smtClean="0"/>
              <a:t>Execute unit test cases defined by Developer</a:t>
            </a:r>
          </a:p>
          <a:p>
            <a:r>
              <a:rPr lang="en-US" dirty="0"/>
              <a:t>Create test cases and add excepted result</a:t>
            </a:r>
          </a:p>
          <a:p>
            <a:r>
              <a:rPr lang="en-US" dirty="0"/>
              <a:t>Execute each test case or user </a:t>
            </a:r>
            <a:endParaRPr lang="en-US" dirty="0" smtClean="0"/>
          </a:p>
          <a:p>
            <a:r>
              <a:rPr lang="en-US" dirty="0" smtClean="0"/>
              <a:t>query </a:t>
            </a:r>
            <a:r>
              <a:rPr lang="en-US" dirty="0"/>
              <a:t>and pass to LLM and check if it is matching 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26" y="3227793"/>
            <a:ext cx="7144020" cy="401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38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27622"/>
            <a:ext cx="10515600" cy="1325563"/>
          </a:xfrm>
        </p:spPr>
        <p:txBody>
          <a:bodyPr/>
          <a:lstStyle/>
          <a:p>
            <a:r>
              <a:rPr lang="en-US" dirty="0" smtClean="0"/>
              <a:t>Tool Accuracy  -&gt;</a:t>
            </a:r>
            <a:r>
              <a:rPr lang="en-US" dirty="0" err="1" smtClean="0"/>
              <a:t>Agentic</a:t>
            </a:r>
            <a:r>
              <a:rPr lang="en-US" dirty="0" smtClean="0"/>
              <a:t> Evaluation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3185"/>
            <a:ext cx="10515600" cy="4351338"/>
          </a:xfrm>
        </p:spPr>
        <p:txBody>
          <a:bodyPr/>
          <a:lstStyle/>
          <a:p>
            <a:r>
              <a:rPr lang="en-US" b="1" dirty="0"/>
              <a:t>Critic</a:t>
            </a:r>
            <a:r>
              <a:rPr lang="en-US" dirty="0"/>
              <a:t> → evaluates whether the </a:t>
            </a:r>
            <a:r>
              <a:rPr lang="en-US" b="1" dirty="0"/>
              <a:t>tool choice / reasoning / output</a:t>
            </a:r>
            <a:r>
              <a:rPr lang="en-US" dirty="0"/>
              <a:t> is correct</a:t>
            </a:r>
            <a:r>
              <a:rPr lang="en-US" dirty="0" smtClean="0"/>
              <a:t>.</a:t>
            </a:r>
          </a:p>
          <a:p>
            <a:r>
              <a:rPr lang="en-US" b="1" dirty="0"/>
              <a:t>Reflection</a:t>
            </a:r>
            <a:r>
              <a:rPr lang="en-US" dirty="0"/>
              <a:t> → evaluates whether the agent </a:t>
            </a:r>
            <a:r>
              <a:rPr lang="en-US" b="1" dirty="0"/>
              <a:t>needs correction or another tool call</a:t>
            </a:r>
            <a:r>
              <a:rPr lang="en-US" dirty="0" smtClean="0"/>
              <a:t>.</a:t>
            </a:r>
          </a:p>
          <a:p>
            <a:r>
              <a:rPr lang="en-US" b="1" dirty="0"/>
              <a:t>LLM-as-Judge</a:t>
            </a:r>
            <a:r>
              <a:rPr lang="en-US" dirty="0"/>
              <a:t> → evaluates the </a:t>
            </a:r>
            <a:r>
              <a:rPr lang="en-US" b="1" dirty="0"/>
              <a:t>final result and gives a score/pass-fail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343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7406</TotalTime>
  <Words>376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Generative AI </vt:lpstr>
      <vt:lpstr>Tool Accuracy- Most Imp</vt:lpstr>
      <vt:lpstr>Tool Accuracy</vt:lpstr>
      <vt:lpstr>Tool Accuracy</vt:lpstr>
      <vt:lpstr>Tool Calling - Best Practice</vt:lpstr>
      <vt:lpstr>Tool Calling - Best Practice</vt:lpstr>
      <vt:lpstr>Tool Accuracy</vt:lpstr>
      <vt:lpstr>Tool Accuracy  -&gt;Agentic Evaluation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admin</dc:creator>
  <cp:lastModifiedBy>Microsoft account</cp:lastModifiedBy>
  <cp:revision>43</cp:revision>
  <dcterms:created xsi:type="dcterms:W3CDTF">2026-05-31T10:38:12Z</dcterms:created>
  <dcterms:modified xsi:type="dcterms:W3CDTF">2026-09-06T18:04:00Z</dcterms:modified>
</cp:coreProperties>
</file>