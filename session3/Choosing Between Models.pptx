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4" r:id="rId1"/>
  </p:sldMasterIdLst>
  <p:sldIdLst>
    <p:sldId id="256" r:id="rId2"/>
    <p:sldId id="264" r:id="rId3"/>
    <p:sldId id="265" r:id="rId4"/>
    <p:sldId id="266" r:id="rId5"/>
    <p:sldId id="267" r:id="rId6"/>
    <p:sldId id="268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9" d="100"/>
          <a:sy n="89" d="100"/>
        </p:scale>
        <p:origin x="432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2967BC-126F-4822-9086-14CEAD50BE3A}" type="datetimeFigureOut">
              <a:rPr lang="en-IN" smtClean="0"/>
              <a:t>08-08-2026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40BB9-1490-4EEC-A0C1-7DE9E26C80B2}" type="slidenum">
              <a:rPr lang="en-IN" smtClean="0"/>
              <a:t>‹#›</a:t>
            </a:fld>
            <a:endParaRPr lang="en-IN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0912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2967BC-126F-4822-9086-14CEAD50BE3A}" type="datetimeFigureOut">
              <a:rPr lang="en-IN" smtClean="0"/>
              <a:t>08-08-2026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40BB9-1490-4EEC-A0C1-7DE9E26C80B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207251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2967BC-126F-4822-9086-14CEAD50BE3A}" type="datetimeFigureOut">
              <a:rPr lang="en-IN" smtClean="0"/>
              <a:t>08-08-2026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40BB9-1490-4EEC-A0C1-7DE9E26C80B2}" type="slidenum">
              <a:rPr lang="en-IN" smtClean="0"/>
              <a:t>‹#›</a:t>
            </a:fld>
            <a:endParaRPr lang="en-IN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47165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2967BC-126F-4822-9086-14CEAD50BE3A}" type="datetimeFigureOut">
              <a:rPr lang="en-IN" smtClean="0"/>
              <a:t>08-08-2026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40BB9-1490-4EEC-A0C1-7DE9E26C80B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557746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2967BC-126F-4822-9086-14CEAD50BE3A}" type="datetimeFigureOut">
              <a:rPr lang="en-IN" smtClean="0"/>
              <a:t>08-08-2026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40BB9-1490-4EEC-A0C1-7DE9E26C80B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279735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2967BC-126F-4822-9086-14CEAD50BE3A}" type="datetimeFigureOut">
              <a:rPr lang="en-IN" smtClean="0"/>
              <a:t>08-08-2026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40BB9-1490-4EEC-A0C1-7DE9E26C80B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02005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2967BC-126F-4822-9086-14CEAD50BE3A}" type="datetimeFigureOut">
              <a:rPr lang="en-IN" smtClean="0"/>
              <a:t>08-08-2026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40BB9-1490-4EEC-A0C1-7DE9E26C80B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180705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F62967BC-126F-4822-9086-14CEAD50BE3A}" type="datetimeFigureOut">
              <a:rPr lang="en-IN" smtClean="0"/>
              <a:t>08-08-2026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5540BB9-1490-4EEC-A0C1-7DE9E26C80B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528535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2967BC-126F-4822-9086-14CEAD50BE3A}" type="datetimeFigureOut">
              <a:rPr lang="en-IN" smtClean="0"/>
              <a:t>08-08-2026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40BB9-1490-4EEC-A0C1-7DE9E26C80B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809231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2967BC-126F-4822-9086-14CEAD50BE3A}" type="datetimeFigureOut">
              <a:rPr lang="en-IN" smtClean="0"/>
              <a:t>08-08-2026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40BB9-1490-4EEC-A0C1-7DE9E26C80B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268842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2967BC-126F-4822-9086-14CEAD50BE3A}" type="datetimeFigureOut">
              <a:rPr lang="en-IN" smtClean="0"/>
              <a:t>08-08-2026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40BB9-1490-4EEC-A0C1-7DE9E26C80B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363774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F62967BC-126F-4822-9086-14CEAD50BE3A}" type="datetimeFigureOut">
              <a:rPr lang="en-IN" smtClean="0"/>
              <a:t>08-08-2026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A5540BB9-1490-4EEC-A0C1-7DE9E26C80B2}" type="slidenum">
              <a:rPr lang="en-IN" smtClean="0"/>
              <a:t>‹#›</a:t>
            </a:fld>
            <a:endParaRPr lang="en-IN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00325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5" r:id="rId1"/>
    <p:sldLayoutId id="2147483826" r:id="rId2"/>
    <p:sldLayoutId id="2147483827" r:id="rId3"/>
    <p:sldLayoutId id="2147483828" r:id="rId4"/>
    <p:sldLayoutId id="2147483829" r:id="rId5"/>
    <p:sldLayoutId id="2147483830" r:id="rId6"/>
    <p:sldLayoutId id="2147483831" r:id="rId7"/>
    <p:sldLayoutId id="2147483832" r:id="rId8"/>
    <p:sldLayoutId id="2147483833" r:id="rId9"/>
    <p:sldLayoutId id="2147483834" r:id="rId10"/>
    <p:sldLayoutId id="2147483835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huggingface.co/genzeonplatform/healthcare-brain-clinical-findings-ner" TargetMode="External"/><Relationship Id="rId2" Type="http://schemas.openxmlformats.org/officeDocument/2006/relationships/hyperlink" Target="https://huggingface.co/genzeonplatform/healthcare-brain-medication-ner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749024"/>
          </a:xfrm>
        </p:spPr>
        <p:txBody>
          <a:bodyPr>
            <a:normAutofit/>
          </a:bodyPr>
          <a:lstStyle/>
          <a:p>
            <a:r>
              <a:rPr lang="en-US" sz="4400" dirty="0" smtClean="0"/>
              <a:t>Choosing Between Models</a:t>
            </a:r>
            <a:r>
              <a:rPr lang="en-US" dirty="0" smtClean="0"/>
              <a:t/>
            </a:r>
            <a:br>
              <a:rPr lang="en-US" dirty="0" smtClean="0"/>
            </a:b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301545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Popular LLM Providers and models</a:t>
            </a:r>
            <a:endParaRPr lang="en-IN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96963" y="2359187"/>
            <a:ext cx="10058400" cy="2996876"/>
          </a:xfrm>
          <a:prstGeom prst="rect">
            <a:avLst/>
          </a:prstGeom>
        </p:spPr>
      </p:pic>
      <p:sp>
        <p:nvSpPr>
          <p:cNvPr id="3" name="Right Arrow 2"/>
          <p:cNvSpPr/>
          <p:nvPr/>
        </p:nvSpPr>
        <p:spPr>
          <a:xfrm>
            <a:off x="179461" y="1128046"/>
            <a:ext cx="649481" cy="47056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693232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Model </a:t>
            </a:r>
            <a:r>
              <a:rPr lang="en-US" dirty="0" err="1" smtClean="0"/>
              <a:t>Comparision</a:t>
            </a:r>
            <a:endParaRPr lang="en-IN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49013" y="1846263"/>
            <a:ext cx="7954300" cy="4022725"/>
          </a:xfrm>
          <a:prstGeom prst="rect">
            <a:avLst/>
          </a:prstGeom>
        </p:spPr>
      </p:pic>
      <p:sp>
        <p:nvSpPr>
          <p:cNvPr id="4" name="Right Arrow 3"/>
          <p:cNvSpPr/>
          <p:nvPr/>
        </p:nvSpPr>
        <p:spPr>
          <a:xfrm>
            <a:off x="7828832" y="4603478"/>
            <a:ext cx="649481" cy="47056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04605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 smtClean="0"/>
              <a:t>Flagship/Reasoning Models</a:t>
            </a:r>
            <a:r>
              <a:rPr lang="en-IN" dirty="0" smtClean="0"/>
              <a:t> </a:t>
            </a:r>
            <a:r>
              <a:rPr lang="en-IN" dirty="0" smtClean="0"/>
              <a:t>model</a:t>
            </a:r>
            <a:endParaRPr lang="en-IN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kumimoji="0" lang="en-US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Accuracy matters more than cost. </a:t>
            </a:r>
            <a:r>
              <a:rPr kumimoji="0" 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(Tax sheet)</a:t>
            </a:r>
            <a:endParaRPr kumimoji="0" lang="en-US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task involves complex reasoning.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You're building coding assistants.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You're working in regulated domains such as finance or healthcare.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You need sophisticated AI agents.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You want the highest-quality output. </a:t>
            </a:r>
          </a:p>
          <a:p>
            <a:endParaRPr lang="en-IN" dirty="0"/>
          </a:p>
        </p:txBody>
      </p:sp>
      <p:sp>
        <p:nvSpPr>
          <p:cNvPr id="4" name="Right Arrow 3"/>
          <p:cNvSpPr/>
          <p:nvPr/>
        </p:nvSpPr>
        <p:spPr>
          <a:xfrm>
            <a:off x="772539" y="3865095"/>
            <a:ext cx="649481" cy="47056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71793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 smtClean="0"/>
              <a:t>Mini</a:t>
            </a:r>
            <a:r>
              <a:rPr lang="en-IN" dirty="0" smtClean="0"/>
              <a:t> model</a:t>
            </a:r>
            <a:endParaRPr lang="en-IN" dirty="0"/>
          </a:p>
        </p:txBody>
      </p:sp>
      <p:sp>
        <p:nvSpPr>
          <p:cNvPr id="4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945038" y="1565506"/>
            <a:ext cx="8865534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You need a balance of quality, speed, and cost.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You're building </a:t>
            </a:r>
            <a:r>
              <a:rPr kumimoji="0" 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chatbots</a:t>
            </a:r>
            <a:r>
              <a:rPr kumimoji="0" 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or internal assistants.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Most requests are of moderate complexity. 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23999" y="2295269"/>
            <a:ext cx="649481" cy="47056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239706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 smtClean="0"/>
              <a:t>Nano</a:t>
            </a:r>
            <a:r>
              <a:rPr lang="en-IN" dirty="0" smtClean="0"/>
              <a:t> model </a:t>
            </a:r>
            <a:endParaRPr lang="en-IN" dirty="0"/>
          </a:p>
        </p:txBody>
      </p:sp>
      <p:sp>
        <p:nvSpPr>
          <p:cNvPr id="6" name="Rectangle 5"/>
          <p:cNvSpPr/>
          <p:nvPr/>
        </p:nvSpPr>
        <p:spPr>
          <a:xfrm>
            <a:off x="1313688" y="1737360"/>
            <a:ext cx="6096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dirty="0">
                <a:latin typeface="Arial" panose="020B0604020202020204" pitchFamily="34" charset="0"/>
              </a:rPr>
              <a:t>The task is simple (classification, routing, tagging).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dirty="0">
                <a:latin typeface="Arial" panose="020B0604020202020204" pitchFamily="34" charset="0"/>
              </a:rPr>
              <a:t>Low latency and low cost are the highest priorities.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dirty="0">
                <a:latin typeface="Arial" panose="020B0604020202020204" pitchFamily="34" charset="0"/>
              </a:rPr>
              <a:t>You're handling very high request volumes. 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47799" y="1096571"/>
            <a:ext cx="649481" cy="47056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624244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Reasoning Models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Reasoning Models</a:t>
            </a:r>
          </a:p>
          <a:p>
            <a:r>
              <a:rPr lang="en-US" dirty="0"/>
              <a:t>Below are few reasoning models</a:t>
            </a:r>
          </a:p>
          <a:p>
            <a:r>
              <a:rPr lang="en-US" dirty="0"/>
              <a:t>GPT‑4 (full versions)</a:t>
            </a:r>
          </a:p>
          <a:p>
            <a:r>
              <a:rPr lang="en-US" dirty="0"/>
              <a:t>Claude 3 Sonnet</a:t>
            </a:r>
          </a:p>
          <a:p>
            <a:r>
              <a:rPr lang="en-US" b="1" dirty="0"/>
              <a:t>Gemini Advanced / Ultra</a:t>
            </a:r>
            <a:endParaRPr lang="en-US" dirty="0"/>
          </a:p>
          <a:p>
            <a:r>
              <a:rPr lang="en-US" dirty="0"/>
              <a:t>LLaMA‑3‑70B</a:t>
            </a:r>
          </a:p>
          <a:p>
            <a:endParaRPr lang="en-IN" dirty="0"/>
          </a:p>
        </p:txBody>
      </p:sp>
      <p:sp>
        <p:nvSpPr>
          <p:cNvPr id="4" name="Right Arrow 3"/>
          <p:cNvSpPr/>
          <p:nvPr/>
        </p:nvSpPr>
        <p:spPr>
          <a:xfrm>
            <a:off x="447799" y="3622131"/>
            <a:ext cx="649481" cy="47056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653546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Simple Model </a:t>
            </a:r>
            <a:r>
              <a:rPr lang="en-IN" b="1" dirty="0" smtClean="0"/>
              <a:t>-  Problems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Below are few simple models</a:t>
            </a:r>
          </a:p>
          <a:p>
            <a:r>
              <a:rPr lang="en-US" dirty="0"/>
              <a:t>GPT‑3.5‑Turbo</a:t>
            </a:r>
          </a:p>
          <a:p>
            <a:r>
              <a:rPr lang="en-US" dirty="0" err="1"/>
              <a:t>LLaMA</a:t>
            </a:r>
            <a:r>
              <a:rPr lang="en-US" dirty="0"/>
              <a:t> 2 7B</a:t>
            </a:r>
          </a:p>
          <a:p>
            <a:r>
              <a:rPr lang="en-US" dirty="0"/>
              <a:t>Phi‑2</a:t>
            </a:r>
          </a:p>
          <a:p>
            <a:r>
              <a:rPr lang="en-US" dirty="0"/>
              <a:t>GPT‑4‑Lite style models</a:t>
            </a:r>
          </a:p>
          <a:p>
            <a:r>
              <a:rPr lang="en-US" dirty="0"/>
              <a:t>These are Optimizes for </a:t>
            </a:r>
            <a:r>
              <a:rPr lang="en-US" b="1" dirty="0"/>
              <a:t>fast responses</a:t>
            </a:r>
            <a:endParaRPr lang="en-US" dirty="0"/>
          </a:p>
          <a:p>
            <a:r>
              <a:rPr lang="en-US" dirty="0"/>
              <a:t>Not able to Plan based on Task.</a:t>
            </a:r>
          </a:p>
          <a:p>
            <a:r>
              <a:rPr lang="en-US" dirty="0"/>
              <a:t>Fails where multi-step decision making required.</a:t>
            </a:r>
          </a:p>
        </p:txBody>
      </p:sp>
      <p:sp>
        <p:nvSpPr>
          <p:cNvPr id="4" name="Right Arrow 3"/>
          <p:cNvSpPr/>
          <p:nvPr/>
        </p:nvSpPr>
        <p:spPr>
          <a:xfrm>
            <a:off x="551374" y="4929614"/>
            <a:ext cx="649481" cy="47056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805108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Problems with Simple Models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600" dirty="0" smtClean="0"/>
              <a:t>User Ask</a:t>
            </a:r>
          </a:p>
          <a:p>
            <a:pPr marL="0" indent="0">
              <a:buNone/>
            </a:pPr>
            <a:r>
              <a:rPr lang="en-US" sz="1600" i="1" dirty="0"/>
              <a:t>“Can you </a:t>
            </a:r>
            <a:r>
              <a:rPr lang="en-US" sz="1600" i="1" dirty="0" smtClean="0"/>
              <a:t>write and drop email </a:t>
            </a:r>
            <a:r>
              <a:rPr lang="en-US" sz="1600" i="1" dirty="0"/>
              <a:t>me my order details and please share last 5 month orders</a:t>
            </a:r>
            <a:r>
              <a:rPr lang="en-US" sz="1600" i="1" dirty="0" smtClean="0"/>
              <a:t>.</a:t>
            </a:r>
          </a:p>
          <a:p>
            <a:pPr marL="0" indent="0">
              <a:buNone/>
            </a:pPr>
            <a:endParaRPr lang="en-US" sz="1600" i="1" dirty="0"/>
          </a:p>
          <a:p>
            <a:pPr marL="0" indent="0">
              <a:buNone/>
            </a:pPr>
            <a:r>
              <a:rPr lang="en-US" sz="1600" dirty="0" smtClean="0"/>
              <a:t>Tasks</a:t>
            </a:r>
          </a:p>
          <a:p>
            <a:pPr marL="514350" indent="-514350">
              <a:buAutoNum type="arabicPeriod"/>
            </a:pPr>
            <a:r>
              <a:rPr lang="en-US" sz="1600" dirty="0" smtClean="0"/>
              <a:t>Email </a:t>
            </a:r>
          </a:p>
          <a:p>
            <a:pPr marL="514350" indent="-514350">
              <a:buAutoNum type="arabicPeriod"/>
            </a:pPr>
            <a:r>
              <a:rPr lang="en-US" sz="1600" dirty="0" smtClean="0"/>
              <a:t>Fetch Order details</a:t>
            </a:r>
          </a:p>
          <a:p>
            <a:pPr marL="514350" indent="-514350">
              <a:buAutoNum type="arabicPeriod"/>
            </a:pPr>
            <a:r>
              <a:rPr lang="en-US" sz="1600" dirty="0" smtClean="0"/>
              <a:t>Fetch last 5 month order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 smtClean="0"/>
              <a:t>Execution Wrong Order</a:t>
            </a:r>
            <a:endParaRPr lang="en-US" sz="1600" dirty="0"/>
          </a:p>
          <a:p>
            <a:pPr marL="514350" indent="-514350">
              <a:buAutoNum type="arabicPeriod"/>
            </a:pPr>
            <a:endParaRPr lang="en-IN" sz="1600" dirty="0"/>
          </a:p>
        </p:txBody>
      </p:sp>
      <p:sp>
        <p:nvSpPr>
          <p:cNvPr id="4" name="Right Arrow 3"/>
          <p:cNvSpPr/>
          <p:nvPr/>
        </p:nvSpPr>
        <p:spPr>
          <a:xfrm>
            <a:off x="306010" y="2180318"/>
            <a:ext cx="649481" cy="47056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728604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Problems with Simple Models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dirty="0" smtClean="0"/>
              <a:t>User Ask - </a:t>
            </a:r>
          </a:p>
          <a:p>
            <a:pPr marL="0" indent="0">
              <a:buNone/>
            </a:pPr>
            <a:r>
              <a:rPr lang="en-US" sz="1800" dirty="0" smtClean="0"/>
              <a:t>“Getting  time out Error can you suggest how to fix”</a:t>
            </a:r>
          </a:p>
          <a:p>
            <a:pPr marL="0" indent="0">
              <a:buNone/>
            </a:pPr>
            <a:endParaRPr lang="en-US" sz="1800" dirty="0" smtClean="0"/>
          </a:p>
          <a:p>
            <a:r>
              <a:rPr lang="en-US" sz="1800" dirty="0" smtClean="0"/>
              <a:t>Simple </a:t>
            </a:r>
            <a:r>
              <a:rPr lang="en-US" sz="1800" dirty="0"/>
              <a:t>Model will provide reasons like results like</a:t>
            </a:r>
          </a:p>
          <a:p>
            <a:r>
              <a:rPr lang="en-US" sz="1800" dirty="0"/>
              <a:t>Server is down</a:t>
            </a:r>
          </a:p>
          <a:p>
            <a:r>
              <a:rPr lang="en-US" sz="1800" dirty="0"/>
              <a:t>“Increase timeout”</a:t>
            </a:r>
          </a:p>
          <a:p>
            <a:pPr marL="0" indent="0">
              <a:buNone/>
            </a:pPr>
            <a:endParaRPr lang="en-IN" dirty="0"/>
          </a:p>
        </p:txBody>
      </p:sp>
      <p:sp>
        <p:nvSpPr>
          <p:cNvPr id="4" name="Right Arrow 3"/>
          <p:cNvSpPr/>
          <p:nvPr/>
        </p:nvSpPr>
        <p:spPr>
          <a:xfrm>
            <a:off x="222190" y="1204958"/>
            <a:ext cx="649481" cy="47056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1349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649"/>
          </a:xfrm>
        </p:spPr>
        <p:txBody>
          <a:bodyPr/>
          <a:lstStyle/>
          <a:p>
            <a:r>
              <a:rPr lang="en-US" dirty="0" smtClean="0"/>
              <a:t>Reasoning Models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504060"/>
            <a:ext cx="10515600" cy="51172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dirty="0" smtClean="0"/>
              <a:t>User Prompt-  </a:t>
            </a:r>
            <a:r>
              <a:rPr lang="en-US" sz="1600" dirty="0"/>
              <a:t>“Can you </a:t>
            </a:r>
            <a:r>
              <a:rPr lang="en-US" sz="1600" dirty="0" smtClean="0"/>
              <a:t>drop email </a:t>
            </a:r>
            <a:r>
              <a:rPr lang="en-US" sz="1600" dirty="0"/>
              <a:t>me my order details and please share last 5 month orders</a:t>
            </a:r>
            <a:r>
              <a:rPr lang="en-US" sz="1600" dirty="0" smtClean="0"/>
              <a:t>.</a:t>
            </a:r>
          </a:p>
          <a:p>
            <a:pPr marL="0" indent="0">
              <a:buNone/>
            </a:pPr>
            <a:endParaRPr lang="en-US" sz="1600" dirty="0"/>
          </a:p>
          <a:p>
            <a:r>
              <a:rPr lang="en-US" sz="1600" b="1" dirty="0"/>
              <a:t>Reasoning Model will work like below</a:t>
            </a:r>
          </a:p>
          <a:p>
            <a:r>
              <a:rPr lang="en-US" sz="1600" dirty="0"/>
              <a:t>First, it will read complete sentence</a:t>
            </a:r>
          </a:p>
          <a:p>
            <a:r>
              <a:rPr lang="en-US" sz="1600" dirty="0"/>
              <a:t>Will Create Plan like below</a:t>
            </a:r>
          </a:p>
          <a:p>
            <a:r>
              <a:rPr lang="en-US" sz="1600" dirty="0" smtClean="0"/>
              <a:t>1.Fetch </a:t>
            </a:r>
            <a:r>
              <a:rPr lang="en-US" sz="1600" dirty="0"/>
              <a:t>Order details</a:t>
            </a:r>
          </a:p>
          <a:p>
            <a:r>
              <a:rPr lang="en-US" sz="1600" dirty="0" smtClean="0"/>
              <a:t>2. Fetch </a:t>
            </a:r>
            <a:r>
              <a:rPr lang="en-US" sz="1600" dirty="0"/>
              <a:t>Last 5 month Order details</a:t>
            </a:r>
          </a:p>
          <a:p>
            <a:r>
              <a:rPr lang="en-US" sz="1600" dirty="0" smtClean="0"/>
              <a:t>3.Combine </a:t>
            </a:r>
            <a:r>
              <a:rPr lang="en-US" sz="1600" dirty="0"/>
              <a:t>Both into one.</a:t>
            </a:r>
          </a:p>
          <a:p>
            <a:r>
              <a:rPr lang="en-US" sz="1600" dirty="0" smtClean="0"/>
              <a:t>4. Draft </a:t>
            </a:r>
            <a:r>
              <a:rPr lang="en-US" sz="1600" dirty="0"/>
              <a:t>User professional Email</a:t>
            </a:r>
          </a:p>
          <a:p>
            <a:r>
              <a:rPr lang="en-US" sz="1600" dirty="0" smtClean="0"/>
              <a:t>5.Send </a:t>
            </a:r>
            <a:r>
              <a:rPr lang="en-US" sz="1600" dirty="0"/>
              <a:t>Email</a:t>
            </a:r>
            <a:r>
              <a:rPr lang="en-US" sz="1600" dirty="0" smtClean="0"/>
              <a:t>.</a:t>
            </a:r>
          </a:p>
          <a:p>
            <a:endParaRPr lang="en-US" sz="1600" dirty="0"/>
          </a:p>
          <a:p>
            <a:r>
              <a:rPr lang="en-US" sz="1600" dirty="0" smtClean="0"/>
              <a:t>Correct Execution</a:t>
            </a:r>
          </a:p>
          <a:p>
            <a:endParaRPr lang="en-US" sz="1900" dirty="0"/>
          </a:p>
          <a:p>
            <a:endParaRPr lang="en-US" sz="1900" dirty="0"/>
          </a:p>
          <a:p>
            <a:pPr marL="0" indent="0">
              <a:buNone/>
            </a:pPr>
            <a:endParaRPr lang="en-IN" dirty="0"/>
          </a:p>
        </p:txBody>
      </p:sp>
      <p:sp>
        <p:nvSpPr>
          <p:cNvPr id="4" name="Right Arrow 3"/>
          <p:cNvSpPr/>
          <p:nvPr/>
        </p:nvSpPr>
        <p:spPr>
          <a:xfrm>
            <a:off x="0" y="532666"/>
            <a:ext cx="649481" cy="47056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664882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Reasoning Models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“can you check logs and share detailed analysis why error occurred; we got error yesterday at 7 pm</a:t>
            </a:r>
            <a:r>
              <a:rPr lang="en-US" dirty="0" smtClean="0"/>
              <a:t>”</a:t>
            </a:r>
          </a:p>
          <a:p>
            <a:endParaRPr lang="en-US" sz="2100" dirty="0"/>
          </a:p>
          <a:p>
            <a:r>
              <a:rPr lang="en-US" sz="2100" b="1" dirty="0"/>
              <a:t>Now LLM will plan like below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100" dirty="0"/>
              <a:t>Read complete sentence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100" dirty="0"/>
              <a:t>Will see what to do — Read operation it is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100" dirty="0"/>
              <a:t>Will navigate Log files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100" dirty="0"/>
              <a:t>Search for Log file for date = Today’s Date -1 (yesterday)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100" dirty="0"/>
              <a:t>Scan File and see date time present on logs and Capture </a:t>
            </a:r>
            <a:r>
              <a:rPr lang="en-US" sz="2100" dirty="0" err="1"/>
              <a:t>Log.Error</a:t>
            </a:r>
            <a:r>
              <a:rPr lang="en-US" sz="2100" dirty="0"/>
              <a:t> around 7 pm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100" dirty="0"/>
              <a:t>if Found then It will pick error Context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100" dirty="0"/>
              <a:t>Make Call to Codex/ Claude Model to get detailed analysis and Root causes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100" dirty="0"/>
              <a:t>Will Drop Email to Admin.</a:t>
            </a:r>
          </a:p>
          <a:p>
            <a:endParaRPr lang="en-IN" dirty="0"/>
          </a:p>
        </p:txBody>
      </p:sp>
      <p:sp>
        <p:nvSpPr>
          <p:cNvPr id="4" name="Right Arrow 3"/>
          <p:cNvSpPr/>
          <p:nvPr/>
        </p:nvSpPr>
        <p:spPr>
          <a:xfrm>
            <a:off x="581113" y="5110386"/>
            <a:ext cx="649481" cy="47056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778988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Domain Models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Sometimes we have specific task related to Domain like </a:t>
            </a:r>
          </a:p>
          <a:p>
            <a:pPr marL="0" indent="0">
              <a:buNone/>
            </a:pPr>
            <a:r>
              <a:rPr lang="en-US" dirty="0" smtClean="0"/>
              <a:t>Doctors are doing some research based on some diseases then they will input some symptom or pattern of disease to understand disease </a:t>
            </a:r>
            <a:r>
              <a:rPr lang="en-US" dirty="0" err="1" smtClean="0"/>
              <a:t>etc</a:t>
            </a:r>
            <a:endParaRPr lang="en-US" dirty="0" smtClean="0"/>
          </a:p>
          <a:p>
            <a:pPr marL="0" indent="0">
              <a:buNone/>
            </a:pPr>
            <a:endParaRPr lang="en-US" dirty="0" smtClean="0"/>
          </a:p>
          <a:p>
            <a:pPr marL="0" indent="0">
              <a:buNone/>
            </a:pPr>
            <a:r>
              <a:rPr lang="en-US" dirty="0" smtClean="0"/>
              <a:t>Hugging face.</a:t>
            </a:r>
            <a:endParaRPr lang="en-US" dirty="0"/>
          </a:p>
          <a:p>
            <a:pPr marL="0" indent="0">
              <a:buNone/>
            </a:pPr>
            <a:r>
              <a:rPr lang="en-IN" dirty="0" err="1" smtClean="0">
                <a:hlinkClick r:id="rId2"/>
              </a:rPr>
              <a:t>genzeonplatform</a:t>
            </a:r>
            <a:r>
              <a:rPr lang="en-IN" dirty="0" smtClean="0">
                <a:hlinkClick r:id="rId2"/>
              </a:rPr>
              <a:t>/healthcare-brain-medication-</a:t>
            </a:r>
            <a:r>
              <a:rPr lang="en-IN" dirty="0" err="1" smtClean="0">
                <a:hlinkClick r:id="rId2"/>
              </a:rPr>
              <a:t>ner</a:t>
            </a:r>
            <a:r>
              <a:rPr lang="en-IN" dirty="0" smtClean="0">
                <a:hlinkClick r:id="rId2"/>
              </a:rPr>
              <a:t> · Hugging Face</a:t>
            </a:r>
            <a:endParaRPr lang="en-IN" dirty="0" smtClean="0"/>
          </a:p>
          <a:p>
            <a:pPr marL="0" indent="0">
              <a:buNone/>
            </a:pPr>
            <a:r>
              <a:rPr lang="en-IN" dirty="0" err="1" smtClean="0">
                <a:hlinkClick r:id="rId3"/>
              </a:rPr>
              <a:t>genzeonplatform</a:t>
            </a:r>
            <a:r>
              <a:rPr lang="en-IN" dirty="0" smtClean="0">
                <a:hlinkClick r:id="rId3"/>
              </a:rPr>
              <a:t>/healthcare-brain-clinical-findings-</a:t>
            </a:r>
            <a:r>
              <a:rPr lang="en-IN" dirty="0" err="1" smtClean="0">
                <a:hlinkClick r:id="rId3"/>
              </a:rPr>
              <a:t>ner</a:t>
            </a:r>
            <a:r>
              <a:rPr lang="en-IN" dirty="0" smtClean="0">
                <a:hlinkClick r:id="rId3"/>
              </a:rPr>
              <a:t> · Hugging Face</a:t>
            </a:r>
            <a:endParaRPr lang="en-IN" dirty="0"/>
          </a:p>
        </p:txBody>
      </p:sp>
      <p:sp>
        <p:nvSpPr>
          <p:cNvPr id="4" name="Right Arrow 3"/>
          <p:cNvSpPr/>
          <p:nvPr/>
        </p:nvSpPr>
        <p:spPr>
          <a:xfrm>
            <a:off x="447799" y="1085698"/>
            <a:ext cx="649481" cy="47056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381077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TM02900769[[fn=Retrospect]]</Template>
  <TotalTime>304</TotalTime>
  <Words>444</Words>
  <Application>Microsoft Office PowerPoint</Application>
  <PresentationFormat>Widescreen</PresentationFormat>
  <Paragraphs>86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Retrospect</vt:lpstr>
      <vt:lpstr>Choosing Between Models </vt:lpstr>
      <vt:lpstr>Popular LLM Providers and models</vt:lpstr>
      <vt:lpstr>Model Comparision</vt:lpstr>
      <vt:lpstr>Flagship/Reasoning Models model</vt:lpstr>
      <vt:lpstr>Mini model</vt:lpstr>
      <vt:lpstr>Nano model </vt:lpstr>
      <vt:lpstr>Reasoning Models</vt:lpstr>
      <vt:lpstr>Simple Model -  Problems</vt:lpstr>
      <vt:lpstr>Problems with Simple Models</vt:lpstr>
      <vt:lpstr>Problems with Simple Models</vt:lpstr>
      <vt:lpstr>Reasoning Models</vt:lpstr>
      <vt:lpstr>Reasoning Models</vt:lpstr>
      <vt:lpstr>Domain Models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Choosing Between Models </dc:title>
  <dc:creator>Microsoft account</dc:creator>
  <cp:lastModifiedBy>Microsoft account</cp:lastModifiedBy>
  <cp:revision>10</cp:revision>
  <dcterms:created xsi:type="dcterms:W3CDTF">2026-08-07T17:42:45Z</dcterms:created>
  <dcterms:modified xsi:type="dcterms:W3CDTF">2026-08-08T18:41:49Z</dcterms:modified>
</cp:coreProperties>
</file>