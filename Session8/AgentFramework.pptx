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68" r:id="rId4"/>
    <p:sldId id="263" r:id="rId5"/>
    <p:sldId id="269" r:id="rId6"/>
    <p:sldId id="270" r:id="rId7"/>
    <p:sldId id="271" r:id="rId8"/>
    <p:sldId id="272" r:id="rId9"/>
    <p:sldId id="273" r:id="rId10"/>
    <p:sldId id="27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398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269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401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341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725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27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596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63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547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2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80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AB068-2450-4597-9EF5-5AF7E6E959B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71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artificial-intelligence/large-language-model-ll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0714" y="-843170"/>
            <a:ext cx="9144000" cy="2387600"/>
          </a:xfrm>
        </p:spPr>
        <p:txBody>
          <a:bodyPr/>
          <a:lstStyle/>
          <a:p>
            <a:r>
              <a:rPr lang="en-US" dirty="0" smtClean="0"/>
              <a:t>Generative AI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0714" y="2132162"/>
            <a:ext cx="9144000" cy="1655762"/>
          </a:xfrm>
        </p:spPr>
        <p:txBody>
          <a:bodyPr/>
          <a:lstStyle/>
          <a:p>
            <a:r>
              <a:rPr lang="en-US" dirty="0" smtClean="0"/>
              <a:t>AI Agents</a:t>
            </a:r>
          </a:p>
        </p:txBody>
      </p:sp>
    </p:spTree>
    <p:extLst>
      <p:ext uri="{BB962C8B-B14F-4D97-AF65-F5344CB8AC3E}">
        <p14:creationId xmlns:p14="http://schemas.microsoft.com/office/powerpoint/2010/main" val="2779632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4574" y="18255"/>
            <a:ext cx="10515600" cy="1325563"/>
          </a:xfrm>
        </p:spPr>
        <p:txBody>
          <a:bodyPr/>
          <a:lstStyle/>
          <a:p>
            <a:r>
              <a:rPr lang="en-US" dirty="0" smtClean="0"/>
              <a:t>Agent Framework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104" y="1358116"/>
            <a:ext cx="10515600" cy="4351338"/>
          </a:xfrm>
        </p:spPr>
        <p:txBody>
          <a:bodyPr/>
          <a:lstStyle/>
          <a:p>
            <a:endParaRPr lang="en-US" dirty="0" smtClean="0"/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791910" y="1637617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 YOUR CUSTOM </a:t>
            </a:r>
            <a:r>
              <a:rPr lang="en-IN" dirty="0" smtClean="0"/>
              <a:t>CODE without framework</a:t>
            </a:r>
            <a:endParaRPr lang="en-IN" dirty="0"/>
          </a:p>
          <a:p>
            <a:r>
              <a:rPr lang="en-IN" dirty="0"/>
              <a:t>                    │</a:t>
            </a:r>
          </a:p>
          <a:p>
            <a:r>
              <a:rPr lang="en-IN" dirty="0"/>
              <a:t>      ┌─────────────┼─────────────┐</a:t>
            </a:r>
          </a:p>
          <a:p>
            <a:r>
              <a:rPr lang="en-IN" dirty="0"/>
              <a:t>      ▼             ▼             ▼</a:t>
            </a:r>
          </a:p>
          <a:p>
            <a:r>
              <a:rPr lang="en-IN" dirty="0"/>
              <a:t> Prompt </a:t>
            </a:r>
            <a:r>
              <a:rPr lang="en-IN" dirty="0" err="1"/>
              <a:t>Mgmt</a:t>
            </a:r>
            <a:r>
              <a:rPr lang="en-IN" dirty="0"/>
              <a:t>    Tool Calling    Agent Loop</a:t>
            </a:r>
          </a:p>
          <a:p>
            <a:r>
              <a:rPr lang="en-IN" dirty="0"/>
              <a:t>      │             │             │</a:t>
            </a:r>
          </a:p>
          <a:p>
            <a:r>
              <a:rPr lang="en-IN" dirty="0"/>
              <a:t>      ▼             ▼             ▼</a:t>
            </a:r>
          </a:p>
          <a:p>
            <a:r>
              <a:rPr lang="en-IN" dirty="0"/>
              <a:t>   Memory        Validation      Logging</a:t>
            </a:r>
          </a:p>
          <a:p>
            <a:r>
              <a:rPr lang="en-IN" dirty="0"/>
              <a:t>      │             │             │</a:t>
            </a:r>
          </a:p>
          <a:p>
            <a:r>
              <a:rPr lang="en-IN" dirty="0"/>
              <a:t>      └─────────────┼─────────────┘</a:t>
            </a:r>
          </a:p>
          <a:p>
            <a:r>
              <a:rPr lang="en-IN" dirty="0"/>
              <a:t>                    ▼</a:t>
            </a:r>
          </a:p>
          <a:p>
            <a:r>
              <a:rPr lang="en-IN" dirty="0"/>
              <a:t>                   LLM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14174" y="1637617"/>
            <a:ext cx="603119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“We need an AI framework because building an enterprise AI application is much more than calling an LLM—it requires orchestration, tools, data, memory, security, validation and agent workflows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5578980" y="3200073"/>
            <a:ext cx="603119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Without agent framework </a:t>
            </a:r>
          </a:p>
          <a:p>
            <a:pPr marL="342900" indent="-342900">
              <a:buAutoNum type="alphaLcPeriod"/>
            </a:pPr>
            <a:r>
              <a:rPr lang="en-US" dirty="0" smtClean="0"/>
              <a:t>Manage Tool calling manually</a:t>
            </a:r>
          </a:p>
          <a:p>
            <a:pPr marL="342900" indent="-342900">
              <a:buAutoNum type="alphaLcPeriod"/>
            </a:pPr>
            <a:r>
              <a:rPr lang="en-US" dirty="0" smtClean="0"/>
              <a:t> Manage business logic manually</a:t>
            </a:r>
          </a:p>
          <a:p>
            <a:pPr marL="342900" indent="-342900">
              <a:buAutoNum type="alphaLcPeriod"/>
            </a:pPr>
            <a:r>
              <a:rPr lang="en-US" dirty="0" smtClean="0"/>
              <a:t>Need to handle </a:t>
            </a:r>
            <a:r>
              <a:rPr lang="en-US" dirty="0" err="1" smtClean="0"/>
              <a:t>json</a:t>
            </a:r>
            <a:r>
              <a:rPr lang="en-US" dirty="0" smtClean="0"/>
              <a:t> from LLM manually</a:t>
            </a:r>
          </a:p>
          <a:p>
            <a:pPr marL="342900" indent="-342900">
              <a:buAutoNum type="alphaLcPeriod"/>
            </a:pPr>
            <a:r>
              <a:rPr lang="en-US" dirty="0" smtClean="0"/>
              <a:t>Difficult to switch between providers </a:t>
            </a:r>
            <a:r>
              <a:rPr lang="en-US" dirty="0" err="1" smtClean="0"/>
              <a:t>beucase</a:t>
            </a:r>
            <a:r>
              <a:rPr lang="en-US" dirty="0" smtClean="0"/>
              <a:t> each LLM have different </a:t>
            </a:r>
            <a:r>
              <a:rPr lang="en-US" dirty="0" err="1" smtClean="0"/>
              <a:t>sdk</a:t>
            </a:r>
            <a:r>
              <a:rPr lang="en-US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5914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177" y="0"/>
            <a:ext cx="10515600" cy="950927"/>
          </a:xfrm>
        </p:spPr>
        <p:txBody>
          <a:bodyPr/>
          <a:lstStyle/>
          <a:p>
            <a:r>
              <a:rPr lang="en-US" dirty="0" smtClean="0"/>
              <a:t>With Agent framework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650" y="1073595"/>
            <a:ext cx="10963542" cy="5540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dirty="0"/>
              <a:t> YOUR .NET APP</a:t>
            </a:r>
          </a:p>
          <a:p>
            <a:pPr marL="0" indent="0">
              <a:buNone/>
            </a:pPr>
            <a:r>
              <a:rPr lang="en-IN" sz="1400" dirty="0"/>
              <a:t>                       │</a:t>
            </a:r>
          </a:p>
          <a:p>
            <a:pPr marL="0" indent="0">
              <a:buNone/>
            </a:pPr>
            <a:r>
              <a:rPr lang="en-IN" sz="1400" dirty="0"/>
              <a:t>                       ▼</a:t>
            </a:r>
          </a:p>
          <a:p>
            <a:pPr marL="0" indent="0">
              <a:buNone/>
            </a:pPr>
            <a:r>
              <a:rPr lang="en-IN" sz="1400" dirty="0"/>
              <a:t>              ┌─────────────────┐</a:t>
            </a:r>
          </a:p>
          <a:p>
            <a:pPr marL="0" indent="0">
              <a:buNone/>
            </a:pPr>
            <a:r>
              <a:rPr lang="en-IN" sz="1400" dirty="0"/>
              <a:t>              │ Semantic Kernel  │</a:t>
            </a:r>
          </a:p>
          <a:p>
            <a:pPr marL="0" indent="0">
              <a:buNone/>
            </a:pPr>
            <a:r>
              <a:rPr lang="en-IN" sz="1400" dirty="0"/>
              <a:t>              └────────┬────────┘</a:t>
            </a:r>
          </a:p>
          <a:p>
            <a:pPr marL="0" indent="0">
              <a:buNone/>
            </a:pPr>
            <a:r>
              <a:rPr lang="en-IN" sz="1400" dirty="0"/>
              <a:t>                       │</a:t>
            </a:r>
          </a:p>
          <a:p>
            <a:pPr marL="0" indent="0">
              <a:buNone/>
            </a:pPr>
            <a:r>
              <a:rPr lang="en-IN" sz="1400" dirty="0"/>
              <a:t>          ┌────────────┼────────────┐</a:t>
            </a:r>
          </a:p>
          <a:p>
            <a:pPr marL="0" indent="0">
              <a:buNone/>
            </a:pPr>
            <a:r>
              <a:rPr lang="en-IN" sz="1400" dirty="0"/>
              <a:t>          ▼            ▼            ▼</a:t>
            </a:r>
          </a:p>
          <a:p>
            <a:pPr marL="0" indent="0">
              <a:buNone/>
            </a:pPr>
            <a:r>
              <a:rPr lang="en-IN" sz="1400" dirty="0"/>
              <a:t>         LLM         Plugins       RAG</a:t>
            </a:r>
          </a:p>
          <a:p>
            <a:pPr marL="0" indent="0">
              <a:buNone/>
            </a:pPr>
            <a:r>
              <a:rPr lang="en-IN" sz="1400" dirty="0"/>
              <a:t>          │            │            │</a:t>
            </a:r>
          </a:p>
          <a:p>
            <a:pPr marL="0" indent="0">
              <a:buNone/>
            </a:pPr>
            <a:r>
              <a:rPr lang="en-IN" sz="1400" dirty="0"/>
              <a:t>          ▼            ▼            ▼</a:t>
            </a:r>
          </a:p>
          <a:p>
            <a:pPr marL="0" indent="0">
              <a:buNone/>
            </a:pPr>
            <a:r>
              <a:rPr lang="en-IN" sz="1400" dirty="0"/>
              <a:t>       Reasoning      Tools       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0" y="1073595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 YOUR .NET APPLICATION</a:t>
            </a:r>
          </a:p>
          <a:p>
            <a:r>
              <a:rPr lang="en-IN" dirty="0"/>
              <a:t>                             │</a:t>
            </a:r>
          </a:p>
          <a:p>
            <a:r>
              <a:rPr lang="en-IN" dirty="0"/>
              <a:t>                             ▼</a:t>
            </a:r>
          </a:p>
          <a:p>
            <a:r>
              <a:rPr lang="en-IN" dirty="0"/>
              <a:t>                  ┌─────────────────────┐</a:t>
            </a:r>
          </a:p>
          <a:p>
            <a:r>
              <a:rPr lang="en-IN" dirty="0"/>
              <a:t>                  │   AI FRAMEWORK      │</a:t>
            </a:r>
          </a:p>
          <a:p>
            <a:r>
              <a:rPr lang="en-IN" dirty="0"/>
              <a:t>                  │ Semantic Kernel     │</a:t>
            </a:r>
          </a:p>
          <a:p>
            <a:r>
              <a:rPr lang="en-IN" dirty="0"/>
              <a:t>                  └──────────┬──────────┘</a:t>
            </a:r>
          </a:p>
          <a:p>
            <a:r>
              <a:rPr lang="en-IN" dirty="0"/>
              <a:t>                             │</a:t>
            </a:r>
          </a:p>
          <a:p>
            <a:r>
              <a:rPr lang="en-IN" dirty="0"/>
              <a:t>          ┌──────────────────┼──────────────────┐</a:t>
            </a:r>
          </a:p>
          <a:p>
            <a:r>
              <a:rPr lang="en-IN" dirty="0"/>
              <a:t>          ▼                  ▼                  ▼</a:t>
            </a:r>
          </a:p>
          <a:p>
            <a:r>
              <a:rPr lang="en-IN" dirty="0"/>
              <a:t>       </a:t>
            </a:r>
            <a:r>
              <a:rPr lang="en-IN" dirty="0" err="1"/>
              <a:t>OpenAI</a:t>
            </a:r>
            <a:r>
              <a:rPr lang="en-IN" dirty="0"/>
              <a:t>             Azure </a:t>
            </a:r>
            <a:r>
              <a:rPr lang="en-IN" dirty="0" err="1"/>
              <a:t>OpenAI</a:t>
            </a:r>
            <a:r>
              <a:rPr lang="en-IN" dirty="0"/>
              <a:t>       Gemini</a:t>
            </a:r>
          </a:p>
          <a:p>
            <a:r>
              <a:rPr lang="en-IN" dirty="0"/>
              <a:t>          │                  │                  │</a:t>
            </a:r>
          </a:p>
          <a:p>
            <a:r>
              <a:rPr lang="en-IN" dirty="0"/>
              <a:t>          └──────────────────┼──────────────────┘</a:t>
            </a:r>
          </a:p>
          <a:p>
            <a:r>
              <a:rPr lang="en-IN" dirty="0"/>
              <a:t>                             ▼</a:t>
            </a:r>
          </a:p>
          <a:p>
            <a:r>
              <a:rPr lang="en-IN" dirty="0"/>
              <a:t>                         LLM / AI</a:t>
            </a:r>
          </a:p>
        </p:txBody>
      </p:sp>
    </p:spTree>
    <p:extLst>
      <p:ext uri="{BB962C8B-B14F-4D97-AF65-F5344CB8AC3E}">
        <p14:creationId xmlns:p14="http://schemas.microsoft.com/office/powerpoint/2010/main" val="1720796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242424"/>
                </a:solidFill>
                <a:latin typeface="source-serif-pro"/>
              </a:rPr>
              <a:t>Agent Framework </a:t>
            </a:r>
            <a:r>
              <a:rPr lang="en-US" dirty="0" smtClean="0"/>
              <a:t>- </a:t>
            </a:r>
            <a:r>
              <a:rPr lang="en-US" dirty="0">
                <a:solidFill>
                  <a:srgbClr val="242424"/>
                </a:solidFill>
                <a:latin typeface="source-serif-pro"/>
              </a:rPr>
              <a:t>Semantic Kernel </a:t>
            </a:r>
            <a:endParaRPr lang="en-IN" dirty="0"/>
          </a:p>
        </p:txBody>
      </p:sp>
      <p:sp>
        <p:nvSpPr>
          <p:cNvPr id="5" name="AutoShape 4" descr="AI Agent: Brain and Tools Infographi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38200" y="1567564"/>
            <a:ext cx="1086953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“We need an AI framework because building an enterprise AI application is much more than calling an LLM—it requires orchestration, tools, data, memory, security, validation and agent </a:t>
            </a:r>
            <a:r>
              <a:rPr lang="en-US" dirty="0" smtClean="0"/>
              <a:t>workflows</a:t>
            </a:r>
          </a:p>
          <a:p>
            <a:endParaRPr lang="en-US" dirty="0"/>
          </a:p>
          <a:p>
            <a:endParaRPr lang="en-IN" dirty="0"/>
          </a:p>
          <a:p>
            <a:r>
              <a:rPr lang="en-US" dirty="0"/>
              <a:t>Semantic Kernel (SK) is an open-source, lightweight SDK developed by Microsoft that acts as a powerful orchestration layer to build, deploy and manage intelligent AI applications and agents by integrating </a:t>
            </a:r>
            <a:r>
              <a:rPr lang="en-US" u="sng" dirty="0">
                <a:hlinkClick r:id="rId2"/>
              </a:rPr>
              <a:t>large language models</a:t>
            </a:r>
            <a:r>
              <a:rPr lang="en-US" dirty="0"/>
              <a:t> (LLMs) with external code, memory, planning and plugins. It supports multiple programming languages, including C#, Python and Java, making it a versatile choice for enterprise-grade AI development.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943242" y="4326393"/>
            <a:ext cx="1030551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42424"/>
                </a:solidFill>
                <a:latin typeface="source-serif-pro"/>
              </a:rPr>
              <a:t>The Semantic Kernel SDK comes with some predefined connectors that can be grouped into two areas</a:t>
            </a:r>
            <a:r>
              <a:rPr lang="en-US" dirty="0" smtClean="0">
                <a:solidFill>
                  <a:srgbClr val="242424"/>
                </a:solidFill>
                <a:latin typeface="source-serif-pro"/>
              </a:rPr>
              <a:t>:</a:t>
            </a:r>
          </a:p>
          <a:p>
            <a:endParaRPr lang="en-US" dirty="0">
              <a:solidFill>
                <a:srgbClr val="242424"/>
              </a:solidFill>
              <a:latin typeface="source-serif-pr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242424"/>
                </a:solidFill>
                <a:latin typeface="source-serif-pro"/>
              </a:rPr>
              <a:t>Integration with AI models: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 err="1">
                <a:solidFill>
                  <a:srgbClr val="242424"/>
                </a:solidFill>
                <a:latin typeface="source-serif-pro"/>
              </a:rPr>
              <a:t>HuggingFace</a:t>
            </a:r>
            <a:r>
              <a:rPr lang="en-US" dirty="0">
                <a:solidFill>
                  <a:srgbClr val="242424"/>
                </a:solidFill>
                <a:latin typeface="source-serif-pro"/>
              </a:rPr>
              <a:t> </a:t>
            </a:r>
            <a:r>
              <a:rPr lang="en-US" dirty="0" err="1">
                <a:solidFill>
                  <a:srgbClr val="242424"/>
                </a:solidFill>
                <a:latin typeface="source-serif-pro"/>
              </a:rPr>
              <a:t>Microsoft.SemanticKernel.Connectors.AI.HuggingFace</a:t>
            </a:r>
            <a:endParaRPr lang="en-US" dirty="0">
              <a:solidFill>
                <a:srgbClr val="242424"/>
              </a:solidFill>
              <a:latin typeface="source-serif-pr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 err="1">
                <a:solidFill>
                  <a:srgbClr val="242424"/>
                </a:solidFill>
                <a:latin typeface="source-serif-pro"/>
              </a:rPr>
              <a:t>Oobabooga</a:t>
            </a:r>
            <a:r>
              <a:rPr lang="en-US" dirty="0">
                <a:solidFill>
                  <a:srgbClr val="242424"/>
                </a:solidFill>
                <a:latin typeface="source-serif-pro"/>
              </a:rPr>
              <a:t> </a:t>
            </a:r>
            <a:r>
              <a:rPr lang="en-US" dirty="0" err="1">
                <a:solidFill>
                  <a:srgbClr val="242424"/>
                </a:solidFill>
                <a:latin typeface="source-serif-pro"/>
              </a:rPr>
              <a:t>Microsoft.SemanticKernel.Connectors.AI.Oobabooga</a:t>
            </a:r>
            <a:endParaRPr lang="en-US" dirty="0">
              <a:solidFill>
                <a:srgbClr val="242424"/>
              </a:solidFill>
              <a:latin typeface="source-serif-pr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 err="1">
                <a:solidFill>
                  <a:srgbClr val="242424"/>
                </a:solidFill>
                <a:latin typeface="source-serif-pro"/>
              </a:rPr>
              <a:t>OpenAI</a:t>
            </a:r>
            <a:r>
              <a:rPr lang="en-US" dirty="0">
                <a:solidFill>
                  <a:srgbClr val="242424"/>
                </a:solidFill>
                <a:latin typeface="source-serif-pro"/>
              </a:rPr>
              <a:t> </a:t>
            </a:r>
            <a:r>
              <a:rPr lang="en-US" dirty="0" err="1" smtClean="0">
                <a:solidFill>
                  <a:srgbClr val="242424"/>
                </a:solidFill>
                <a:latin typeface="source-serif-pro"/>
              </a:rPr>
              <a:t>Microsoft.SemanticKernel.Connectors.AO.OpenAI</a:t>
            </a:r>
            <a:endParaRPr lang="en-US" dirty="0" smtClean="0">
              <a:solidFill>
                <a:srgbClr val="242424"/>
              </a:solidFill>
              <a:latin typeface="source-serif-pr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solidFill>
                <a:srgbClr val="242424"/>
              </a:solidFill>
              <a:latin typeface="source-serif-pr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 smtClean="0">
                <a:solidFill>
                  <a:srgbClr val="242424"/>
                </a:solidFill>
                <a:latin typeface="source-serif-pro"/>
              </a:rPr>
              <a:t>Code easy to </a:t>
            </a:r>
            <a:r>
              <a:rPr lang="en-US" dirty="0" err="1" smtClean="0">
                <a:solidFill>
                  <a:srgbClr val="242424"/>
                </a:solidFill>
                <a:latin typeface="source-serif-pro"/>
              </a:rPr>
              <a:t>manintain</a:t>
            </a:r>
            <a:endParaRPr lang="en-US" dirty="0">
              <a:solidFill>
                <a:srgbClr val="242424"/>
              </a:solidFill>
              <a:latin typeface="source-serif-pro"/>
            </a:endParaRPr>
          </a:p>
          <a:p>
            <a:endParaRPr lang="en-IN" dirty="0">
              <a:solidFill>
                <a:srgbClr val="242424"/>
              </a:solidFill>
              <a:latin typeface="source-serif-pro"/>
            </a:endParaRPr>
          </a:p>
          <a:p>
            <a:endParaRPr lang="en-US" dirty="0" smtClean="0">
              <a:solidFill>
                <a:srgbClr val="242424"/>
              </a:solidFill>
              <a:latin typeface="source-serif-pro"/>
            </a:endParaRPr>
          </a:p>
          <a:p>
            <a:endParaRPr lang="en-IN" dirty="0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974220" y="3875888"/>
            <a:ext cx="65" cy="27699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975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Sementic</a:t>
            </a:r>
            <a:r>
              <a:rPr lang="en-US" dirty="0" smtClean="0"/>
              <a:t> </a:t>
            </a:r>
            <a:r>
              <a:rPr lang="en-US" dirty="0" err="1" smtClean="0"/>
              <a:t>Kernal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it is?</a:t>
            </a:r>
          </a:p>
          <a:p>
            <a:r>
              <a:rPr lang="en-US" dirty="0"/>
              <a:t>The Kernel is the central orchestrator in Semantic Kernel. Think of it as the </a:t>
            </a:r>
            <a:r>
              <a:rPr lang="en-US" dirty="0" err="1"/>
              <a:t>IServiceProvider</a:t>
            </a:r>
            <a:r>
              <a:rPr lang="en-US" dirty="0"/>
              <a:t> of the AI world — it holds references to AI service connectors, plugins, and configuration.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3295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389"/>
            <a:ext cx="10515600" cy="429633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Sementic</a:t>
            </a:r>
            <a:r>
              <a:rPr lang="en-US" dirty="0" smtClean="0"/>
              <a:t> </a:t>
            </a:r>
            <a:r>
              <a:rPr lang="en-US" dirty="0" err="1" smtClean="0"/>
              <a:t>Kernal</a:t>
            </a:r>
            <a:r>
              <a:rPr lang="en-US" dirty="0" smtClean="0"/>
              <a:t> – AI service Layer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00129"/>
            <a:ext cx="10515600" cy="5882681"/>
          </a:xfrm>
        </p:spPr>
        <p:txBody>
          <a:bodyPr>
            <a:normAutofit/>
          </a:bodyPr>
          <a:lstStyle/>
          <a:p>
            <a:r>
              <a:rPr lang="en-US" b="1" dirty="0"/>
              <a:t>AI Services Layer</a:t>
            </a:r>
            <a:r>
              <a:rPr lang="en-US" dirty="0"/>
              <a:t> — connectors to Azure </a:t>
            </a:r>
            <a:r>
              <a:rPr lang="en-US" dirty="0" err="1"/>
              <a:t>OpenAI</a:t>
            </a:r>
            <a:r>
              <a:rPr lang="en-US" dirty="0"/>
              <a:t>, </a:t>
            </a:r>
            <a:r>
              <a:rPr lang="en-US" dirty="0" err="1"/>
              <a:t>OpenAI</a:t>
            </a:r>
            <a:r>
              <a:rPr lang="en-US" dirty="0"/>
              <a:t>, local models</a:t>
            </a:r>
          </a:p>
          <a:p>
            <a:pPr marL="0" indent="0">
              <a:buNone/>
            </a:pPr>
            <a:r>
              <a:rPr lang="en-IN" sz="1900" dirty="0"/>
              <a:t/>
            </a:r>
            <a:br>
              <a:rPr lang="en-IN" sz="1900" dirty="0"/>
            </a:br>
            <a:r>
              <a:rPr lang="en-IN" sz="1900" dirty="0" err="1" smtClean="0"/>
              <a:t>var</a:t>
            </a:r>
            <a:r>
              <a:rPr lang="en-IN" sz="1900" dirty="0" smtClean="0"/>
              <a:t> </a:t>
            </a:r>
            <a:r>
              <a:rPr lang="en-IN" sz="1900" dirty="0"/>
              <a:t>builder = </a:t>
            </a:r>
            <a:r>
              <a:rPr lang="en-IN" sz="1900" dirty="0" err="1"/>
              <a:t>Kernel.CreateBuilder</a:t>
            </a:r>
            <a:r>
              <a:rPr lang="en-IN" sz="1900" dirty="0"/>
              <a:t>();</a:t>
            </a:r>
            <a:r>
              <a:rPr lang="en-IN" sz="1900" dirty="0"/>
              <a:t/>
            </a:r>
            <a:br>
              <a:rPr lang="en-IN" sz="1900" dirty="0"/>
            </a:br>
            <a:r>
              <a:rPr lang="en-IN" sz="1900" dirty="0"/>
              <a:t/>
            </a:r>
            <a:br>
              <a:rPr lang="en-IN" sz="1900" dirty="0"/>
            </a:br>
            <a:r>
              <a:rPr lang="en-IN" sz="1900" dirty="0" err="1"/>
              <a:t>builder.AddAzureOpenAIChatCompletion</a:t>
            </a:r>
            <a:r>
              <a:rPr lang="en-IN" sz="1900" dirty="0"/>
              <a:t>(</a:t>
            </a:r>
            <a:r>
              <a:rPr lang="en-IN" sz="1900" dirty="0"/>
              <a:t/>
            </a:r>
            <a:br>
              <a:rPr lang="en-IN" sz="1900" dirty="0"/>
            </a:br>
            <a:r>
              <a:rPr lang="en-IN" sz="1900" dirty="0" err="1"/>
              <a:t>deploymentName</a:t>
            </a:r>
            <a:r>
              <a:rPr lang="en-IN" sz="1900" dirty="0"/>
              <a:t>: </a:t>
            </a:r>
            <a:r>
              <a:rPr lang="en-IN" sz="1900" dirty="0" err="1"/>
              <a:t>Environment.GetEnvironmentVariable</a:t>
            </a:r>
            <a:r>
              <a:rPr lang="en-IN" sz="1900" dirty="0"/>
              <a:t>("AZURE_OPENAI_DEPLOYMENT")!,</a:t>
            </a:r>
            <a:r>
              <a:rPr lang="en-IN" sz="1900" dirty="0"/>
              <a:t/>
            </a:r>
            <a:br>
              <a:rPr lang="en-IN" sz="1900" dirty="0"/>
            </a:br>
            <a:r>
              <a:rPr lang="en-IN" sz="1900" dirty="0"/>
              <a:t>endpoint: </a:t>
            </a:r>
            <a:r>
              <a:rPr lang="en-IN" sz="1900" dirty="0" err="1"/>
              <a:t>Environment.GetEnvironmentVariable</a:t>
            </a:r>
            <a:r>
              <a:rPr lang="en-IN" sz="1900" dirty="0"/>
              <a:t>("AZURE_OPENAI_ENDPOINT")!,</a:t>
            </a:r>
            <a:r>
              <a:rPr lang="en-IN" sz="1900" dirty="0"/>
              <a:t/>
            </a:r>
            <a:br>
              <a:rPr lang="en-IN" sz="1900" dirty="0"/>
            </a:br>
            <a:r>
              <a:rPr lang="en-IN" sz="1900" dirty="0" err="1"/>
              <a:t>apiKey</a:t>
            </a:r>
            <a:r>
              <a:rPr lang="en-IN" sz="1900" dirty="0"/>
              <a:t>: </a:t>
            </a:r>
            <a:r>
              <a:rPr lang="en-IN" sz="1900" dirty="0" err="1"/>
              <a:t>Environment.GetEnvironmentVariable</a:t>
            </a:r>
            <a:r>
              <a:rPr lang="en-IN" sz="1900" dirty="0"/>
              <a:t>("AZURE_OPENAI_KEY")!</a:t>
            </a:r>
            <a:r>
              <a:rPr lang="en-IN" sz="1900" dirty="0"/>
              <a:t/>
            </a:r>
            <a:br>
              <a:rPr lang="en-IN" sz="1900" dirty="0"/>
            </a:br>
            <a:r>
              <a:rPr lang="en-IN" sz="1900" dirty="0"/>
              <a:t>);</a:t>
            </a:r>
            <a:r>
              <a:rPr lang="en-IN" sz="1900" dirty="0"/>
              <a:t/>
            </a:r>
            <a:br>
              <a:rPr lang="en-IN" sz="1900" dirty="0"/>
            </a:br>
            <a:r>
              <a:rPr lang="en-IN" sz="1900" dirty="0"/>
              <a:t/>
            </a:r>
            <a:br>
              <a:rPr lang="en-IN" sz="1900" dirty="0"/>
            </a:br>
            <a:r>
              <a:rPr lang="en-IN" sz="1900" dirty="0"/>
              <a:t>// Kernel is immutable after this call</a:t>
            </a:r>
            <a:r>
              <a:rPr lang="en-IN" sz="1900" dirty="0"/>
              <a:t/>
            </a:r>
            <a:br>
              <a:rPr lang="en-IN" sz="1900" dirty="0"/>
            </a:br>
            <a:r>
              <a:rPr lang="en-IN" sz="1900" dirty="0"/>
              <a:t>Kernel </a:t>
            </a:r>
            <a:r>
              <a:rPr lang="en-IN" sz="1900" dirty="0" err="1"/>
              <a:t>kernel</a:t>
            </a:r>
            <a:r>
              <a:rPr lang="en-IN" sz="1900" dirty="0"/>
              <a:t> = </a:t>
            </a:r>
            <a:r>
              <a:rPr lang="en-IN" sz="1900" dirty="0" err="1"/>
              <a:t>builder.Build</a:t>
            </a:r>
            <a:r>
              <a:rPr lang="en-IN" sz="1900" dirty="0" smtClean="0"/>
              <a:t>();</a:t>
            </a:r>
          </a:p>
          <a:p>
            <a:pPr marL="0" indent="0">
              <a:buNone/>
            </a:pPr>
            <a:endParaRPr lang="en-US" sz="19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242424"/>
                </a:solidFill>
                <a:latin typeface="source-serif-pro"/>
              </a:rPr>
              <a:t>Integration with AI models: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 err="1">
                <a:solidFill>
                  <a:srgbClr val="242424"/>
                </a:solidFill>
                <a:latin typeface="source-serif-pro"/>
              </a:rPr>
              <a:t>HuggingFace</a:t>
            </a:r>
            <a:r>
              <a:rPr lang="en-US" sz="2000" dirty="0">
                <a:solidFill>
                  <a:srgbClr val="242424"/>
                </a:solidFill>
                <a:latin typeface="source-serif-pro"/>
              </a:rPr>
              <a:t> </a:t>
            </a:r>
            <a:r>
              <a:rPr lang="en-US" sz="2000" dirty="0" err="1">
                <a:solidFill>
                  <a:srgbClr val="242424"/>
                </a:solidFill>
                <a:latin typeface="source-serif-pro"/>
              </a:rPr>
              <a:t>Microsoft.SemanticKernel.Connectors.AI.HuggingFace</a:t>
            </a:r>
            <a:endParaRPr lang="en-US" sz="2000" dirty="0">
              <a:solidFill>
                <a:srgbClr val="242424"/>
              </a:solidFill>
              <a:latin typeface="source-serif-pr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 err="1">
                <a:solidFill>
                  <a:srgbClr val="242424"/>
                </a:solidFill>
                <a:latin typeface="source-serif-pro"/>
              </a:rPr>
              <a:t>Oobabooga</a:t>
            </a:r>
            <a:r>
              <a:rPr lang="en-US" sz="2000" dirty="0">
                <a:solidFill>
                  <a:srgbClr val="242424"/>
                </a:solidFill>
                <a:latin typeface="source-serif-pro"/>
              </a:rPr>
              <a:t> </a:t>
            </a:r>
            <a:r>
              <a:rPr lang="en-US" sz="2000" dirty="0" err="1">
                <a:solidFill>
                  <a:srgbClr val="242424"/>
                </a:solidFill>
                <a:latin typeface="source-serif-pro"/>
              </a:rPr>
              <a:t>Microsoft.SemanticKernel.Connectors.AI.Oobabooga</a:t>
            </a:r>
            <a:endParaRPr lang="en-US" sz="2000" dirty="0">
              <a:solidFill>
                <a:srgbClr val="242424"/>
              </a:solidFill>
              <a:latin typeface="source-serif-pr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 err="1">
                <a:solidFill>
                  <a:srgbClr val="242424"/>
                </a:solidFill>
                <a:latin typeface="source-serif-pro"/>
              </a:rPr>
              <a:t>OpenAI</a:t>
            </a:r>
            <a:r>
              <a:rPr lang="en-US" sz="2000" dirty="0">
                <a:solidFill>
                  <a:srgbClr val="242424"/>
                </a:solidFill>
                <a:latin typeface="source-serif-pro"/>
              </a:rPr>
              <a:t> </a:t>
            </a:r>
            <a:r>
              <a:rPr lang="en-US" sz="2000" dirty="0" err="1">
                <a:solidFill>
                  <a:srgbClr val="242424"/>
                </a:solidFill>
                <a:latin typeface="source-serif-pro"/>
              </a:rPr>
              <a:t>Microsoft.SemanticKernel.Connectors.AO.OpenAI</a:t>
            </a:r>
            <a:endParaRPr lang="en-US" sz="2000" dirty="0">
              <a:solidFill>
                <a:srgbClr val="242424"/>
              </a:solidFill>
              <a:latin typeface="source-serif-pro"/>
            </a:endParaRPr>
          </a:p>
          <a:p>
            <a:pPr marL="0" indent="0">
              <a:buNone/>
            </a:pP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3816808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Sementic</a:t>
            </a:r>
            <a:r>
              <a:rPr lang="en-US" dirty="0"/>
              <a:t> </a:t>
            </a:r>
            <a:r>
              <a:rPr lang="en-US" dirty="0" err="1"/>
              <a:t>Kernal</a:t>
            </a:r>
            <a:r>
              <a:rPr lang="en-US" dirty="0"/>
              <a:t> – </a:t>
            </a:r>
            <a:r>
              <a:rPr lang="en-US" dirty="0" smtClean="0"/>
              <a:t>Plugin Layer (</a:t>
            </a:r>
            <a:r>
              <a:rPr lang="en-US" dirty="0" err="1" smtClean="0"/>
              <a:t>Kernal</a:t>
            </a:r>
            <a:r>
              <a:rPr lang="en-US" dirty="0" smtClean="0"/>
              <a:t> Functions)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</a:t>
            </a:r>
            <a:r>
              <a:rPr lang="en-US" dirty="0" smtClean="0"/>
              <a:t>our </a:t>
            </a:r>
            <a:r>
              <a:rPr lang="en-US" dirty="0"/>
              <a:t>business logic exposed as </a:t>
            </a:r>
            <a:r>
              <a:rPr lang="en-US" dirty="0" smtClean="0"/>
              <a:t>tools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IN" sz="1600" dirty="0"/>
              <a:t>[</a:t>
            </a:r>
            <a:r>
              <a:rPr lang="en-IN" sz="1600" dirty="0" err="1"/>
              <a:t>KernelFunction</a:t>
            </a:r>
            <a:r>
              <a:rPr lang="en-IN" sz="1600" dirty="0"/>
              <a:t>]</a:t>
            </a:r>
          </a:p>
          <a:p>
            <a:pPr marL="0" indent="0">
              <a:buNone/>
            </a:pPr>
            <a:r>
              <a:rPr lang="en-IN" sz="1600" dirty="0"/>
              <a:t>[Description("Get manager information for an employee")]</a:t>
            </a:r>
          </a:p>
          <a:p>
            <a:pPr marL="0" indent="0">
              <a:buNone/>
            </a:pPr>
            <a:r>
              <a:rPr lang="en-IN" sz="1600" dirty="0"/>
              <a:t>public string </a:t>
            </a:r>
            <a:r>
              <a:rPr lang="en-IN" sz="1600" dirty="0" err="1"/>
              <a:t>GetManagerDetails</a:t>
            </a:r>
            <a:r>
              <a:rPr lang="en-IN" sz="1600" dirty="0"/>
              <a:t>( [Description("Employee ID")] </a:t>
            </a:r>
            <a:r>
              <a:rPr lang="en-IN" sz="1600" dirty="0" err="1"/>
              <a:t>int</a:t>
            </a:r>
            <a:r>
              <a:rPr lang="en-IN" sz="1600" dirty="0"/>
              <a:t> </a:t>
            </a:r>
            <a:r>
              <a:rPr lang="en-IN" sz="1600" dirty="0" err="1"/>
              <a:t>employeeId</a:t>
            </a:r>
            <a:r>
              <a:rPr lang="en-IN" sz="1600" dirty="0"/>
              <a:t>)</a:t>
            </a:r>
          </a:p>
          <a:p>
            <a:pPr marL="0" indent="0">
              <a:buNone/>
            </a:pPr>
            <a:r>
              <a:rPr lang="en-IN" sz="1600" dirty="0"/>
              <a:t>{</a:t>
            </a:r>
          </a:p>
          <a:p>
            <a:pPr marL="0" indent="0">
              <a:buNone/>
            </a:pPr>
            <a:r>
              <a:rPr lang="en-IN" sz="1600" dirty="0"/>
              <a:t>    </a:t>
            </a:r>
            <a:r>
              <a:rPr lang="en-IN" sz="1600" dirty="0" err="1"/>
              <a:t>Console.WriteLine</a:t>
            </a:r>
            <a:r>
              <a:rPr lang="en-IN" sz="1600" dirty="0"/>
              <a:t>($"TOOL: </a:t>
            </a:r>
            <a:r>
              <a:rPr lang="en-IN" sz="1600" dirty="0" err="1"/>
              <a:t>GetManagerDetails</a:t>
            </a:r>
            <a:r>
              <a:rPr lang="en-IN" sz="1600" dirty="0"/>
              <a:t>({</a:t>
            </a:r>
            <a:r>
              <a:rPr lang="en-IN" sz="1600" dirty="0" err="1"/>
              <a:t>employeeId</a:t>
            </a:r>
            <a:r>
              <a:rPr lang="en-IN" sz="1600" dirty="0"/>
              <a:t>})");</a:t>
            </a:r>
          </a:p>
          <a:p>
            <a:pPr marL="0" indent="0">
              <a:buNone/>
            </a:pPr>
            <a:r>
              <a:rPr lang="en-IN" sz="1600" dirty="0" smtClean="0"/>
              <a:t>    </a:t>
            </a:r>
            <a:endParaRPr lang="en-IN" sz="1600" dirty="0"/>
          </a:p>
          <a:p>
            <a:pPr marL="0" indent="0">
              <a:buNone/>
            </a:pPr>
            <a:r>
              <a:rPr lang="en-IN" sz="1600" dirty="0" smtClean="0"/>
              <a:t>}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33222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Automatic Function Call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Using </a:t>
            </a:r>
            <a:r>
              <a:rPr lang="en-US" dirty="0" err="1" smtClean="0"/>
              <a:t>Sementic</a:t>
            </a:r>
            <a:r>
              <a:rPr lang="en-US" dirty="0" smtClean="0"/>
              <a:t> </a:t>
            </a:r>
            <a:r>
              <a:rPr lang="en-US" dirty="0" err="1" smtClean="0"/>
              <a:t>Kernal</a:t>
            </a:r>
            <a:r>
              <a:rPr lang="en-US" dirty="0" smtClean="0"/>
              <a:t> , we do not need to worry about calling Tools.</a:t>
            </a:r>
          </a:p>
          <a:p>
            <a:r>
              <a:rPr lang="en-US" dirty="0" smtClean="0"/>
              <a:t>Framework take care all those things via auto function settings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sz="1800" dirty="0"/>
              <a:t> </a:t>
            </a:r>
            <a:r>
              <a:rPr lang="en-IN" sz="1800" dirty="0" err="1"/>
              <a:t>var</a:t>
            </a:r>
            <a:r>
              <a:rPr lang="en-IN" sz="1800" dirty="0"/>
              <a:t> settings = new </a:t>
            </a:r>
            <a:r>
              <a:rPr lang="en-IN" sz="1800" dirty="0" err="1"/>
              <a:t>OpenAIPromptExecutionSettings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 {</a:t>
            </a:r>
          </a:p>
          <a:p>
            <a:pPr marL="0" indent="0">
              <a:buNone/>
            </a:pPr>
            <a:r>
              <a:rPr lang="en-IN" sz="1800" dirty="0"/>
              <a:t>     </a:t>
            </a:r>
            <a:r>
              <a:rPr lang="en-IN" sz="1800" dirty="0" err="1"/>
              <a:t>FunctionChoiceBehavior</a:t>
            </a:r>
            <a:r>
              <a:rPr lang="en-IN" sz="1800" dirty="0"/>
              <a:t> =  </a:t>
            </a:r>
            <a:r>
              <a:rPr lang="en-IN" sz="1800" dirty="0" err="1"/>
              <a:t>FunctionChoiceBehavior.Auto</a:t>
            </a:r>
            <a:r>
              <a:rPr lang="en-IN" sz="1800" dirty="0"/>
              <a:t>()</a:t>
            </a:r>
          </a:p>
          <a:p>
            <a:pPr marL="0" indent="0">
              <a:buNone/>
            </a:pPr>
            <a:r>
              <a:rPr lang="en-IN" sz="1800" dirty="0"/>
              <a:t> };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760046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914" y="74569"/>
            <a:ext cx="10515600" cy="59200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Invoke Function – </a:t>
            </a:r>
            <a:r>
              <a:rPr lang="en-US" dirty="0" err="1" smtClean="0"/>
              <a:t>Chatcompletion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914" y="748856"/>
            <a:ext cx="10972088" cy="3079660"/>
          </a:xfrm>
        </p:spPr>
        <p:txBody>
          <a:bodyPr>
            <a:normAutofit lnSpcReduction="10000"/>
          </a:bodyPr>
          <a:lstStyle/>
          <a:p>
            <a:endParaRPr lang="en-US" dirty="0" smtClean="0"/>
          </a:p>
          <a:p>
            <a:r>
              <a:rPr lang="en-IN" dirty="0"/>
              <a:t> </a:t>
            </a:r>
            <a:r>
              <a:rPr lang="en-IN" dirty="0" err="1"/>
              <a:t>var</a:t>
            </a:r>
            <a:r>
              <a:rPr lang="en-IN" dirty="0"/>
              <a:t> result = await _</a:t>
            </a:r>
            <a:r>
              <a:rPr lang="en-IN" dirty="0" err="1"/>
              <a:t>kernel.InvokePromptAsync</a:t>
            </a:r>
            <a:r>
              <a:rPr lang="en-IN" dirty="0"/>
              <a:t>(prompt</a:t>
            </a:r>
            <a:r>
              <a:rPr lang="en-IN" dirty="0" smtClean="0"/>
              <a:t>);</a:t>
            </a:r>
          </a:p>
          <a:p>
            <a:endParaRPr lang="en-US" dirty="0"/>
          </a:p>
          <a:p>
            <a:r>
              <a:rPr lang="en-US" dirty="0" smtClean="0"/>
              <a:t>Internally</a:t>
            </a:r>
            <a:r>
              <a:rPr lang="en-US" dirty="0"/>
              <a:t>, </a:t>
            </a:r>
            <a:r>
              <a:rPr lang="en-US" b="1" dirty="0" err="1"/>
              <a:t>ChatCompletionAgent.InvokeAsync</a:t>
            </a:r>
            <a:r>
              <a:rPr lang="en-US" b="1" dirty="0"/>
              <a:t>(</a:t>
            </a:r>
            <a:r>
              <a:rPr lang="en-US" b="1" dirty="0" err="1"/>
              <a:t>chatHistory</a:t>
            </a:r>
            <a:r>
              <a:rPr lang="en-US" dirty="0"/>
              <a:t>) calls the registered </a:t>
            </a:r>
            <a:r>
              <a:rPr lang="en-US" dirty="0" err="1"/>
              <a:t>IChatCompletionService</a:t>
            </a:r>
            <a:r>
              <a:rPr lang="en-US" dirty="0"/>
              <a:t>, attaches the agent's instructions as a system message, sends the available plugin schemas to the LLM, and handles the reasoning loop:</a:t>
            </a:r>
          </a:p>
          <a:p>
            <a:endParaRPr lang="en-IN" dirty="0"/>
          </a:p>
        </p:txBody>
      </p:sp>
      <p:pic>
        <p:nvPicPr>
          <p:cNvPr id="2053" name="Picture 5" descr="https://miro.medium.com/v2/resize:fit:875/0*QZ25cifugOIglaX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668" y="3624516"/>
            <a:ext cx="5750607" cy="3233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406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Best Practice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Very detailed description </a:t>
            </a:r>
          </a:p>
          <a:p>
            <a:r>
              <a:rPr lang="en-IN" dirty="0"/>
              <a:t>Keep plugins single-responsibility. </a:t>
            </a:r>
            <a:endParaRPr lang="en-IN" dirty="0"/>
          </a:p>
          <a:p>
            <a:r>
              <a:rPr lang="en-US" dirty="0"/>
              <a:t>Separate read and write plugins</a:t>
            </a:r>
            <a:r>
              <a:rPr lang="en-US" dirty="0"/>
              <a:t>.</a:t>
            </a:r>
          </a:p>
          <a:p>
            <a:r>
              <a:rPr lang="en-US" dirty="0"/>
              <a:t>Always add agent responses back to </a:t>
            </a:r>
            <a:r>
              <a:rPr lang="en-US" dirty="0" err="1"/>
              <a:t>ChatHistory</a:t>
            </a:r>
            <a:r>
              <a:rPr lang="en-US" dirty="0"/>
              <a:t>.</a:t>
            </a:r>
          </a:p>
          <a:p>
            <a:r>
              <a:rPr lang="en-US" dirty="0"/>
              <a:t>Use </a:t>
            </a:r>
            <a:r>
              <a:rPr lang="en-US" dirty="0" err="1"/>
              <a:t>FunctionChoiceBehavior.None</a:t>
            </a:r>
            <a:r>
              <a:rPr lang="en-US" dirty="0"/>
              <a:t>() for debugging.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1707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11346</TotalTime>
  <Words>503</Words>
  <Application>Microsoft Office PowerPoint</Application>
  <PresentationFormat>Widescreen</PresentationFormat>
  <Paragraphs>105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source-serif-pro</vt:lpstr>
      <vt:lpstr>Office Theme</vt:lpstr>
      <vt:lpstr>Generative AI </vt:lpstr>
      <vt:lpstr>Agent Framework</vt:lpstr>
      <vt:lpstr>With Agent framework</vt:lpstr>
      <vt:lpstr>Agent Framework - Semantic Kernel </vt:lpstr>
      <vt:lpstr>Sementic Kernal</vt:lpstr>
      <vt:lpstr>Sementic Kernal – AI service Layer</vt:lpstr>
      <vt:lpstr>Sementic Kernal – Plugin Layer (Kernal Functions)</vt:lpstr>
      <vt:lpstr>Automatic Function Call</vt:lpstr>
      <vt:lpstr>Invoke Function – Chatcompletion</vt:lpstr>
      <vt:lpstr>Best Practice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</dc:title>
  <dc:creator>admin</dc:creator>
  <cp:lastModifiedBy>Microsoft account</cp:lastModifiedBy>
  <cp:revision>30</cp:revision>
  <dcterms:created xsi:type="dcterms:W3CDTF">2026-05-31T10:38:12Z</dcterms:created>
  <dcterms:modified xsi:type="dcterms:W3CDTF">2026-09-06T18:04:26Z</dcterms:modified>
</cp:coreProperties>
</file>